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9" r:id="rId14"/>
    <p:sldId id="270" r:id="rId15"/>
    <p:sldId id="268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0952" y="3200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9A84C"/>
                </a:solidFill>
                <a:latin typeface="Calibri"/>
              </a:rPr>
              <a:t>ADVENTIST UNIVERSITY OF CENTRAL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2" y="71323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AABBCC"/>
                </a:solidFill>
                <a:latin typeface="Calibri"/>
              </a:rPr>
              <a:t>Faculty of Information Technology · 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 dirty="0">
                <a:solidFill>
                  <a:srgbClr val="FFFFFF"/>
                </a:solidFill>
                <a:latin typeface="Georgia"/>
              </a:rPr>
              <a:t>AUCA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9A84C"/>
                </a:solidFill>
                <a:latin typeface="Georgia"/>
              </a:rPr>
              <a:t>Mentorship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EE"/>
                </a:solidFill>
                <a:latin typeface="Calibri"/>
              </a:rPr>
              <a:t>Best Programming Practices and Design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7315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Confiance UFITAMAHORO  ·  Student ID: 27185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159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AABBCC"/>
                </a:solidFill>
                <a:latin typeface="Calibri"/>
              </a:rPr>
              <a:t>Instructor: RUTARINDWA JEAN PIERRE  ·  Academic Year 2025–2026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17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Calibri"/>
              </a:rPr>
              <a:t>"As iron sharpens iron, so one person sharpens another." — Proverbs 27:17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2588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201168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828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System Analysis &amp;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331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Case study, problem statement, OOP diagrams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7648" y="201168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1828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Software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2331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Architecture, design patterns, tech stack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65760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65760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434340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822191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Docker &amp; Version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6634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Containerization, Git workflow, GitHub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65760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7648" y="434340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3822191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Testing &amp;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46634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Unit tests, integration tests, Postman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Case Study &amp;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1 —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39496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Calibri"/>
              </a:rPr>
              <a:t>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0D1B2A"/>
                </a:solidFill>
                <a:latin typeface="Calibri"/>
              </a:rPr>
              <a:t>The AUCA Student Mentorship Portal connects junior students (mentees) with senior students and lecturers (mentors) for academic and career guidance.</a:t>
            </a: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0D1B2A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0D1B2A"/>
                </a:solidFill>
                <a:latin typeface="Calibri"/>
              </a:rPr>
              <a:t>Users &amp; Roles: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Mentee — junior student seeking guidance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Mentor — senior student or lecturer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Admin — system manager with full control</a:t>
            </a: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0D1B2A"/>
                </a:solidFill>
                <a:latin typeface="Calibri"/>
              </a:rPr>
              <a:t>Core Features: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User registration &amp; JWT authentication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Mentor application &amp; admin approval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Session booking &amp; status management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Feedback &amp; star rating system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Admin monitoring &amp; reporting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58064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0644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6187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Problems Identified at AUCA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8" y="17830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structured mentorship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103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Students relied on informal, untracked connections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265176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2651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session scheduling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971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Meetings were arranged via WhatsApp with no 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3520439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352043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feedback 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3840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Quality of mentorship could not be measured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438912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36208" y="4389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admin oversight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470915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No way to monitor mentorship activity or generate reports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525780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36208" y="5257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Mentor availability unknown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5577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Students had no way to see who was available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Use Case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82880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OBJECT-ORIENTED DESIGN</a:t>
            </a:r>
          </a:p>
        </p:txBody>
      </p:sp>
      <p:pic>
        <p:nvPicPr>
          <p:cNvPr id="60" name="Picture 59" descr="A diagram of a network&#10;&#10;AI-generated content may be incorrect.">
            <a:extLst>
              <a:ext uri="{FF2B5EF4-FFF2-40B4-BE49-F238E27FC236}">
                <a16:creationId xmlns:a16="http://schemas.microsoft.com/office/drawing/2014/main" id="{5F0F50BB-2151-8ADA-D968-6C0420CC7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310" y="1097280"/>
            <a:ext cx="3618204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Class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82880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OBJECT-ORIENTED DESIGN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6D13025-7D15-3F57-53A0-5E85263E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447" y="1097280"/>
            <a:ext cx="5195730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Activity Diagram — Session Lifecycle</a:t>
            </a:r>
          </a:p>
        </p:txBody>
      </p:sp>
      <p:sp>
        <p:nvSpPr>
          <p:cNvPr id="4" name="Oval 3"/>
          <p:cNvSpPr/>
          <p:nvPr/>
        </p:nvSpPr>
        <p:spPr>
          <a:xfrm>
            <a:off x="5225796" y="-571500"/>
            <a:ext cx="1737360" cy="320040"/>
          </a:xfrm>
          <a:prstGeom prst="ellipse">
            <a:avLst/>
          </a:prstGeom>
          <a:solidFill>
            <a:srgbClr val="C9A84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0D1B2A"/>
                </a:solidFill>
                <a:latin typeface="Calibri"/>
              </a:rPr>
              <a:t>START</a:t>
            </a:r>
          </a:p>
        </p:txBody>
      </p:sp>
      <p:sp>
        <p:nvSpPr>
          <p:cNvPr id="5" name="Block Arc 4"/>
          <p:cNvSpPr/>
          <p:nvPr/>
        </p:nvSpPr>
        <p:spPr>
          <a:xfrm>
            <a:off x="6085332" y="-251460"/>
            <a:ext cx="18288" cy="228600"/>
          </a:xfrm>
          <a:prstGeom prst="blockArc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lock Arc 25"/>
          <p:cNvSpPr/>
          <p:nvPr/>
        </p:nvSpPr>
        <p:spPr>
          <a:xfrm>
            <a:off x="6085332" y="6789419"/>
            <a:ext cx="18288" cy="228600"/>
          </a:xfrm>
          <a:prstGeom prst="blockArc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A diagram of a company&#10;&#10;AI-generated content may be incorrect.">
            <a:extLst>
              <a:ext uri="{FF2B5EF4-FFF2-40B4-BE49-F238E27FC236}">
                <a16:creationId xmlns:a16="http://schemas.microsoft.com/office/drawing/2014/main" id="{403D0F4A-076F-56E9-8067-A413E2D05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87" y="1120140"/>
            <a:ext cx="6800651" cy="57378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Sequence Diagram — Session Booking Flow</a:t>
            </a:r>
          </a:p>
        </p:txBody>
      </p:sp>
      <p:pic>
        <p:nvPicPr>
          <p:cNvPr id="44" name="Picture 43" descr="A white sheet of paper with black lines&#10;&#10;AI-generated content may be incorrect.">
            <a:extLst>
              <a:ext uri="{FF2B5EF4-FFF2-40B4-BE49-F238E27FC236}">
                <a16:creationId xmlns:a16="http://schemas.microsoft.com/office/drawing/2014/main" id="{143737C4-09BF-3CDC-6757-78D2082FB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455" y="1097280"/>
            <a:ext cx="2375915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Component Diagram — System Architecture</a:t>
            </a:r>
          </a:p>
        </p:txBody>
      </p:sp>
      <p:pic>
        <p:nvPicPr>
          <p:cNvPr id="67" name="Picture 66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B0E7DCB-C929-BF81-8FDA-AF34AB9AB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999" y="1097280"/>
            <a:ext cx="776015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2 · Tech Stack &amp; Design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2 —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Frontend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Component-based SPA with React Router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Backend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91639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RESTful API with MVC 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PostgreSQL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Relational DB with ACID compliance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JWT + bcrypt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Stateless auth with hashed passwords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DevOps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Docker +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Containerized multi-service deployment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81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Jest + Supertest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Unit and integration test suites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715000"/>
            <a:ext cx="11430000" cy="91440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65760" y="5715000"/>
            <a:ext cx="73152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57790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Design Patterns Applied:  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MVC Pattern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5196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Singleton (DB Pool)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Repository Pattern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69479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Middleware Chain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Context API (React)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8700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Guard Clauses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3 · Docker &amp; Version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201168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3 — DOCKER &amp; GIT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57784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Docker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Services: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mentorship_db  — PostgreSQL 15-alpine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mentorship_api — Node.js 20-alpine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Key Commands: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docker-compose up --build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 ps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docker-compose down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65A82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Health Check: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D8C5E"/>
                </a:solidFill>
                <a:latin typeface="Calibri"/>
              </a:rPr>
              <a:t>  GET http://localhost:5000/health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→ { status: ok, project: AUCA Mentorship Portal }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Volume: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pgdata — persistent PostgreSQL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34440"/>
            <a:ext cx="557784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234440"/>
            <a:ext cx="557784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261872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Git Branching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864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7556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2996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Production-ready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395728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232257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feature/auth-system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968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JWT auth &amp; bcrypt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62656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31638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Mentor profiles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529584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4564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feature/session-management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307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Booking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96512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19088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feature/feedback-system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Ratings &amp;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63440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45902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feature/frontend-ui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86460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React pages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5230368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51572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feature/docker-setup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43153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Containerization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797296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57241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99846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Jest test suites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Georgia"/>
              </a:rPr>
              <a:t>Phase 4 · API Testing Postman Collection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11430000" cy="384048"/>
          </a:xfrm>
          <a:prstGeom prst="rect">
            <a:avLst/>
          </a:prstGeom>
          <a:solidFill>
            <a:srgbClr val="0D1B2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Endpoint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1887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11887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636776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6550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642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/api/auth/register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642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66420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Register mentee or mentor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75104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039112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06654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/api/auth/login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066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Public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Login — returns JWT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377440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2441448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459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4688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/api/auth/me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2468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4688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current authenticated user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2843784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8620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287121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/api/users/mentors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28712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87121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List all approved mentors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182112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3246120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32644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2735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/api/users/pending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2735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Admin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27355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Pending mentor applications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584448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7200" y="3648456"/>
            <a:ext cx="868680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36667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675887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/api/users/:id/approve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36758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Admin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3675887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Approve or reject a mentor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986784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4050792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40690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40782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/api/sessions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4078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Mentee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407822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Book a new session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389120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57200" y="4453128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7200" y="4471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448055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/api/sessions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4480559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78040" y="4480559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sessions for logged-in user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791456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57200" y="4855464"/>
            <a:ext cx="868680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" y="487375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PATCH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40" y="488289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/api/sessions/:id/status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7840" y="48828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Mentor/Admin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488289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Update session status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5193792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7200" y="5257800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527608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63040" y="5285231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/api/feedback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52852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Mentee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78040" y="5285231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Submit feedback after session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5596128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57200" y="5660136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57200" y="567842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63040" y="568756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/api/feedback/mentor/:id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77840" y="5687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78040" y="56875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feedback for a mentor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5998464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457200" y="6062472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57200" y="6080759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3040" y="6089903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/api/feedback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77840" y="60899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Admin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78040" y="6089903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all feedback (admin)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09F9C969-BD25-22D6-05DE-AA749196E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2308"/>
            <a:ext cx="11430000" cy="56856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E0175-4EFE-D7CE-FA64-D9D59C3B1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281D44-81C7-E993-CF76-9FBCFC93D96B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F699C-0C7F-3171-A189-05B0A66ACCD0}"/>
              </a:ext>
            </a:extLst>
          </p:cNvPr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3D94C8D-94F4-6286-2C7D-55323A662C26}"/>
              </a:ext>
            </a:extLst>
          </p:cNvPr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97CF68-A25D-380E-4035-04B84B83E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25295"/>
            <a:ext cx="11125200" cy="556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984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76B934-B759-184A-DB3E-9B2CB68A5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C40A5E-AF4C-A068-30BF-8CAF0BA854C9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F62C43-3910-208E-6057-6C3C7A1E186F}"/>
              </a:ext>
            </a:extLst>
          </p:cNvPr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A36C309-D234-1850-92DC-8BB5CCD70620}"/>
              </a:ext>
            </a:extLst>
          </p:cNvPr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AE490-EAF7-B451-77E7-AF995A11C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25295"/>
            <a:ext cx="12188825" cy="557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452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A84C"/>
                </a:solidFill>
                <a:latin typeface="Calibri"/>
              </a:rPr>
              <a:t>AUCA Student Mentorship Portal — Complete Full-Stack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830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System analysis, UML diagrams (Use Case, Class, Activity, Sequence, Component)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90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Full-stack prototype — React frontend, Express API, PostgreSQL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0332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703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05079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Dockerized with docker-compose, Git version control with feature branches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6344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4663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0109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17 tests (100% pass rate) — unit, integration, Postman API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601968"/>
            <a:ext cx="105156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66568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9A84C"/>
                </a:solidFill>
                <a:latin typeface="Calibri"/>
              </a:rPr>
              <a:t>"Whatever you do, work at it with all your heart, as working for the Lord." — Colossians 3:23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805</Words>
  <Application>Microsoft Office PowerPoint</Application>
  <PresentationFormat>Custom</PresentationFormat>
  <Paragraphs>191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Aime</cp:lastModifiedBy>
  <cp:revision>9</cp:revision>
  <dcterms:created xsi:type="dcterms:W3CDTF">2013-01-27T09:14:16Z</dcterms:created>
  <dcterms:modified xsi:type="dcterms:W3CDTF">2026-05-14T11:41:24Z</dcterms:modified>
  <cp:category/>
</cp:coreProperties>
</file>