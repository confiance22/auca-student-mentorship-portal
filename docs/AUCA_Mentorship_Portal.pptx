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678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0952" y="3200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9A84C"/>
                </a:solidFill>
                <a:latin typeface="Calibri"/>
              </a:rPr>
              <a:t>ADVENTIST UNIVERSITY OF CENTRAL AFRICA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0952" y="71323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  <a:latin typeface="Calibri"/>
              </a:rPr>
              <a:t>Faculty of Information Technology · Software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 dirty="0">
                <a:solidFill>
                  <a:srgbClr val="FFFFFF"/>
                </a:solidFill>
                <a:latin typeface="Georgia"/>
              </a:rPr>
              <a:t>AUCA 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9A84C"/>
                </a:solidFill>
                <a:latin typeface="Georgia"/>
              </a:rPr>
              <a:t>Mentorship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EE"/>
                </a:solidFill>
                <a:latin typeface="Calibri"/>
              </a:rPr>
              <a:t>Best Programming Practices and Design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7315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Confiance UFITAMAHORO  ·  Student ID: 27185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159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Instructor: RUTARINDWA JEAN PIERRE  ·  Academic Year 2025–2026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17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9A84C"/>
                </a:solidFill>
                <a:latin typeface="Calibri"/>
              </a:rPr>
              <a:t>"As iron sharpens iron, so one person sharpens another." — Proverbs 27:17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Presentation 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2588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201168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14904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18288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System Analysis &amp;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33172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Case study, problem statement, OOP diagrams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27648" y="201168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14904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18288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Software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8" y="233172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Architecture, design patterns, tech stack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65760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365760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434340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3822191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41605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Docker &amp; Version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66344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Containerization, Git workflow, GitHub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65760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60" y="365760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27648" y="434340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3822191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1605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Testing &amp; 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466344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Unit tests, integration tests, Postman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Case Study &amp; 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1 —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39496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9496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Calibri"/>
              </a:rPr>
              <a:t>System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D1B2A"/>
                </a:solidFill>
                <a:latin typeface="Calibri"/>
              </a:rPr>
              <a:t>The AUCA Student Mentorship Portal connects junior students (mentees) with senior students and lecturers (mentors) for academic and career guidance.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0D1B2A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D1B2A"/>
                </a:solidFill>
                <a:latin typeface="Calibri"/>
              </a:rPr>
              <a:t>Users &amp; Roles: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6370"/>
                </a:solidFill>
                <a:latin typeface="Calibri"/>
              </a:rPr>
              <a:t>  ◆  Mentee — junior student seeking guidance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6370"/>
                </a:solidFill>
                <a:latin typeface="Calibri"/>
              </a:rPr>
              <a:t>  ◆  Mentor — senior student or lecturer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6370"/>
                </a:solidFill>
                <a:latin typeface="Calibri"/>
              </a:rPr>
              <a:t>  ◆  Admin — system manager with full control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5C637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D1B2A"/>
                </a:solidFill>
                <a:latin typeface="Calibri"/>
              </a:rPr>
              <a:t>Core Features: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6370"/>
                </a:solidFill>
                <a:latin typeface="Calibri"/>
              </a:rPr>
              <a:t>  ◆  User registration &amp; JWT authentication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6370"/>
                </a:solidFill>
                <a:latin typeface="Calibri"/>
              </a:rPr>
              <a:t>  ◆  Mentor application &amp; admin approval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6370"/>
                </a:solidFill>
                <a:latin typeface="Calibri"/>
              </a:rPr>
              <a:t>  ◆  Session booking &amp; status management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6370"/>
                </a:solidFill>
                <a:latin typeface="Calibri"/>
              </a:rPr>
              <a:t>  ◆  Feedback &amp; star rating system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6370"/>
                </a:solidFill>
                <a:latin typeface="Calibri"/>
              </a:rPr>
              <a:t>  ◆  Admin monitoring &amp; reporting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234440"/>
            <a:ext cx="58064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0644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26187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Problems Identified at AUCA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78308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36208" y="178308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structured mentorship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1031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Students relied on informal, untracked connections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265176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36208" y="2651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session scheduling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2971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Meetings were arranged via WhatsApp with no record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3520439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36208" y="352043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feedback mechanism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384047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Quality of mentorship could not be measured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438912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36208" y="43891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admin oversight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470915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No way to monitor mentorship activity or generate reports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525780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36208" y="5257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Mentor availability unknown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5577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Students had no way to see who was available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Use Case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82880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OBJECT-ORIENTED DESIGN</a:t>
            </a:r>
          </a:p>
        </p:txBody>
      </p:sp>
      <p:pic>
        <p:nvPicPr>
          <p:cNvPr id="60" name="Picture 59" descr="A diagram of a network&#10;&#10;AI-generated content may be incorrect.">
            <a:extLst>
              <a:ext uri="{FF2B5EF4-FFF2-40B4-BE49-F238E27FC236}">
                <a16:creationId xmlns:a16="http://schemas.microsoft.com/office/drawing/2014/main" id="{5F0F50BB-2151-8ADA-D968-6C0420CC7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310" y="1060704"/>
            <a:ext cx="3618204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Class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82880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OBJECT-ORIENTED DESIGN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6D13025-7D15-3F57-53A0-5E85263E1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6447" y="1097280"/>
            <a:ext cx="5195730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Activity Diagram — Session Lifecycle</a:t>
            </a:r>
          </a:p>
        </p:txBody>
      </p:sp>
      <p:sp>
        <p:nvSpPr>
          <p:cNvPr id="4" name="Oval 3"/>
          <p:cNvSpPr/>
          <p:nvPr/>
        </p:nvSpPr>
        <p:spPr>
          <a:xfrm>
            <a:off x="5225796" y="-571500"/>
            <a:ext cx="1737360" cy="320040"/>
          </a:xfrm>
          <a:prstGeom prst="ellipse">
            <a:avLst/>
          </a:prstGeom>
          <a:solidFill>
            <a:srgbClr val="C9A84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0D1B2A"/>
                </a:solidFill>
                <a:latin typeface="Calibri"/>
              </a:rPr>
              <a:t>START</a:t>
            </a:r>
          </a:p>
        </p:txBody>
      </p:sp>
      <p:sp>
        <p:nvSpPr>
          <p:cNvPr id="5" name="Block Arc 4"/>
          <p:cNvSpPr/>
          <p:nvPr/>
        </p:nvSpPr>
        <p:spPr>
          <a:xfrm>
            <a:off x="6085332" y="-251460"/>
            <a:ext cx="18288" cy="228600"/>
          </a:xfrm>
          <a:prstGeom prst="blockArc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lock Arc 25"/>
          <p:cNvSpPr/>
          <p:nvPr/>
        </p:nvSpPr>
        <p:spPr>
          <a:xfrm>
            <a:off x="6085332" y="6789419"/>
            <a:ext cx="18288" cy="228600"/>
          </a:xfrm>
          <a:prstGeom prst="blockArc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A diagram of a company&#10;&#10;AI-generated content may be incorrect.">
            <a:extLst>
              <a:ext uri="{FF2B5EF4-FFF2-40B4-BE49-F238E27FC236}">
                <a16:creationId xmlns:a16="http://schemas.microsoft.com/office/drawing/2014/main" id="{403D0F4A-076F-56E9-8067-A413E2D05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87" y="1097280"/>
            <a:ext cx="6800651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Sequence Diagram — Session Booking Flow</a:t>
            </a:r>
          </a:p>
        </p:txBody>
      </p:sp>
      <p:pic>
        <p:nvPicPr>
          <p:cNvPr id="44" name="Picture 43" descr="A white sheet of paper with black lines&#10;&#10;AI-generated content may be incorrect.">
            <a:extLst>
              <a:ext uri="{FF2B5EF4-FFF2-40B4-BE49-F238E27FC236}">
                <a16:creationId xmlns:a16="http://schemas.microsoft.com/office/drawing/2014/main" id="{143737C4-09BF-3CDC-6757-78D2082FB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455" y="1097280"/>
            <a:ext cx="2375915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Component Diagram — System Architecture</a:t>
            </a:r>
          </a:p>
        </p:txBody>
      </p:sp>
      <p:pic>
        <p:nvPicPr>
          <p:cNvPr id="67" name="Picture 66" descr="A diagram of a software company&#10;&#10;AI-generated content may be incorrect.">
            <a:extLst>
              <a:ext uri="{FF2B5EF4-FFF2-40B4-BE49-F238E27FC236}">
                <a16:creationId xmlns:a16="http://schemas.microsoft.com/office/drawing/2014/main" id="{EB0E7DCB-C929-BF81-8FDA-AF34AB9AB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999" y="1097280"/>
            <a:ext cx="7760151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2 · Tech Stack &amp; Design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2 —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173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Frontend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React 18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Component-based SPA with React Router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4173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Backend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91639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Node.js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945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RESTful API with MVC architecture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280160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280160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4173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6916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PostgreSQL 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Relational DB with ACID compliance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11879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611879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7490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0233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JWT + bcrypt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52627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Stateless auth with hashed passwords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3611879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51960" y="3611879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37490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DevOps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0233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Docker + 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52627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Containerized multi-service deployment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3611879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38160" y="3611879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75320" y="37490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Testing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0233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Jest + Supertest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52627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Unit and integration test suites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715000"/>
            <a:ext cx="11430000" cy="91440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65760" y="5715000"/>
            <a:ext cx="73152" cy="914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57790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Calibri"/>
              </a:rPr>
              <a:t>Design Patterns Applied:  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MVC Pattern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5196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Singleton (DB Pool)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Repository Pattern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69479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Middleware Chain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7824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Context API (React)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8700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Guard Clauses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3 · Docker &amp; Version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201168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3 — DOCKER &amp; GIT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577840" cy="5349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57784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53035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Docker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Services: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mentorship_db  — PostgreSQL 15-alpine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mentorship_api — Node.js 20-alpine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5C637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Key Commands: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65A82"/>
                </a:solidFill>
                <a:latin typeface="Calibri"/>
              </a:rPr>
              <a:t>  docker-compose up --build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65A82"/>
                </a:solidFill>
                <a:latin typeface="Calibri"/>
              </a:rPr>
              <a:t>  docker ps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65A82"/>
                </a:solidFill>
                <a:latin typeface="Calibri"/>
              </a:rPr>
              <a:t>  docker-compose down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65A82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Health Check: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D8C5E"/>
                </a:solidFill>
                <a:latin typeface="Calibri"/>
              </a:rPr>
              <a:t>  GET http://localhost:5000/health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→ { status: ok, project: AUCA Mentorship Portal }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5C637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Volume: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pgdata — persistent PostgreSQL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234440"/>
            <a:ext cx="5577840" cy="5349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234440"/>
            <a:ext cx="557784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261872"/>
            <a:ext cx="53035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Git Branching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864" cy="4114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9088" y="17556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02996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Production-ready 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395728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9088" y="232257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feature/auth-system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968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JWT auth &amp; bcrypt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62656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19088" y="288950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feature/mentors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16382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Mentor profiles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529584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345643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feature/session-management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7307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Booking system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96512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19088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feature/feedback-system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Ratings &amp; reviews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63440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19088" y="459028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feature/frontend-ui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86460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React pages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5230368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515721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feature/docker-setup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43153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Containerization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797296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19088" y="572414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599846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Jest test suites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4 · Software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4 — TESTING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743200" cy="54864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D8C5E"/>
                </a:solidFill>
                <a:latin typeface="Georgia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Unit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128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C6370"/>
                </a:solidFill>
                <a:latin typeface="Calibri"/>
              </a:rPr>
              <a:t>100% 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23444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91840" y="1234440"/>
            <a:ext cx="2743200" cy="54864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32588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D8C5E"/>
                </a:solidFill>
                <a:latin typeface="Georgia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Integration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128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C6370"/>
                </a:solidFill>
                <a:latin typeface="Calibri"/>
              </a:rPr>
              <a:t>100% 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234440"/>
            <a:ext cx="2743200" cy="54864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132588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D8C5E"/>
                </a:solidFill>
                <a:latin typeface="Georgia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Total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2128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C6370"/>
                </a:solidFill>
                <a:latin typeface="Calibri"/>
              </a:rPr>
              <a:t>All Passing 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234440"/>
            <a:ext cx="27432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44000" y="1234440"/>
            <a:ext cx="274320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32588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Georg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Test Suites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2128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C6370"/>
                </a:solidFill>
                <a:latin typeface="Calibri"/>
              </a:rPr>
              <a:t>auth · session · feedback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88920"/>
            <a:ext cx="557784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5760" y="2788920"/>
            <a:ext cx="5577840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28163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Unit Tests  (npx jest tests/unit/ --verbose)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246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auth.test.js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5661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generateToken returns a string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7947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bcrypt hash verifies correctly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0233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bcrypt rejects wrong password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343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session.test.js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66344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pending can be accepted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89204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pending can be declined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12064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accepted can be completed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534924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completed cannot be changed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44067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feedback.test.js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5760719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valid feedback passes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5989319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missing session_id fails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6217919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rating out of range fails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446519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missing rating fails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2788920"/>
            <a:ext cx="557784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72200" y="2788920"/>
            <a:ext cx="5577840" cy="3657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09360" y="28163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Integration Tests  (Supertest + Express)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3246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auth.test.js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5661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should register a new mentee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8404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should reject duplicate 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41148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should reject wrong password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4937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session.test.js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2578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authenticated mentee gets sessions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5321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✓  unauthenticated request rejected (401)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349240"/>
            <a:ext cx="5577840" cy="1097280"/>
          </a:xfrm>
          <a:prstGeom prst="rect">
            <a:avLst/>
          </a:prstGeom>
          <a:solidFill>
            <a:srgbClr val="F0F8F0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60" y="54406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8C5E"/>
                </a:solidFill>
                <a:latin typeface="Consolas"/>
              </a:rPr>
              <a:t>$ npx jest tests/unit/ --verbose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57150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8C5E"/>
                </a:solidFill>
                <a:latin typeface="Consolas"/>
              </a:rPr>
              <a:t>$ npx jest tests/integration/ --verbose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989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8C5E"/>
                </a:solidFill>
                <a:latin typeface="Consolas"/>
              </a:rPr>
              <a:t>$ npx jest --coverage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eorgia"/>
              </a:rPr>
              <a:t>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A84C"/>
                </a:solidFill>
                <a:latin typeface="Calibri"/>
              </a:rPr>
              <a:t>AUCA Student Mentorship Portal — Complete Full-Stack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830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System analysis, UML diagrams (Use Case, Class, Activity, Sequence, Component)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7432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090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Full-stack prototype — React frontend, Express API, PostgreSQL database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0332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37033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050791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Dockerized with docker-compose, Git version control with feature branches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66344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46634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50109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17 tests (100% pass rate) — unit, integration, Postman API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601968"/>
            <a:ext cx="105156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" y="66568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9A84C"/>
                </a:solidFill>
                <a:latin typeface="Calibri"/>
              </a:rPr>
              <a:t>"Whatever you do, work at it with all your heart, as working for the Lord." — Colossians 3:23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807</Words>
  <Application>Microsoft Office PowerPoint</Application>
  <PresentationFormat>Custom</PresentationFormat>
  <Paragraphs>173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Aime</cp:lastModifiedBy>
  <cp:revision>5</cp:revision>
  <dcterms:created xsi:type="dcterms:W3CDTF">2013-01-27T09:14:16Z</dcterms:created>
  <dcterms:modified xsi:type="dcterms:W3CDTF">2026-05-14T09:55:07Z</dcterms:modified>
  <cp:category/>
</cp:coreProperties>
</file>