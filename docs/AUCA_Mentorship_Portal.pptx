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269" r:id="rId14"/>
    <p:sldId id="270" r:id="rId15"/>
    <p:sldId id="268" r:id="rId1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834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30952" y="3200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C9A84C"/>
                </a:solidFill>
                <a:latin typeface="Calibri"/>
              </a:rPr>
              <a:t>ADVENTIST UNIVERSITY OF CENTRAL AFRICA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0952" y="713232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 dirty="0">
                <a:solidFill>
                  <a:srgbClr val="AABBCC"/>
                </a:solidFill>
                <a:latin typeface="Calibri"/>
              </a:rPr>
              <a:t>Faculty of Information Technology · Software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 dirty="0">
                <a:solidFill>
                  <a:srgbClr val="FFFFFF"/>
                </a:solidFill>
                <a:latin typeface="Georgia"/>
              </a:rPr>
              <a:t>AUCA 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C9A84C"/>
                </a:solidFill>
                <a:latin typeface="Georgia"/>
              </a:rPr>
              <a:t>Mentorship Portal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46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DEE"/>
                </a:solidFill>
                <a:latin typeface="Calibri"/>
              </a:rPr>
              <a:t>Best Programming Practices and Design Patterns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94760"/>
            <a:ext cx="7315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Confiance UFITAMAHORO  ·  Student ID: 27185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159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AABBCC"/>
                </a:solidFill>
                <a:latin typeface="Calibri"/>
              </a:rPr>
              <a:t>Instructor: RUTARINDWA JEAN PIERRE  ·  Academic Year 2025–2026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2179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9A84C"/>
                </a:solidFill>
                <a:latin typeface="Calibri"/>
              </a:rPr>
              <a:t>"As iron sharpens iron, so one person sharpens another." — Proverbs 27:17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Presentation Outline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325880"/>
            <a:ext cx="55778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640080" cy="2103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2011680"/>
            <a:ext cx="6035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1490472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182880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System Analysis &amp;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233172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6370"/>
                </a:solidFill>
                <a:latin typeface="Calibri"/>
              </a:rPr>
              <a:t>Case study, problem statement, OOP diagrams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25880"/>
            <a:ext cx="55778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60" y="1325880"/>
            <a:ext cx="640080" cy="2103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27648" y="2011680"/>
            <a:ext cx="6035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9168" y="1490472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Phase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59168" y="182880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Software Prototype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59168" y="233172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6370"/>
                </a:solidFill>
                <a:latin typeface="Calibri"/>
              </a:rPr>
              <a:t>Architecture, design patterns, tech stack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657600"/>
            <a:ext cx="55778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1480" y="3657600"/>
            <a:ext cx="640080" cy="2103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" y="4343400"/>
            <a:ext cx="6035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3822191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Phase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1288" y="416052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Docker &amp; Version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466344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6370"/>
                </a:solidFill>
                <a:latin typeface="Calibri"/>
              </a:rPr>
              <a:t>Containerization, Git workflow, GitHub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3657600"/>
            <a:ext cx="55778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309360" y="3657600"/>
            <a:ext cx="640080" cy="21031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27648" y="4343400"/>
            <a:ext cx="6035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8" y="3822191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Phase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16052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Testing &amp; Validation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9168" y="466344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C6370"/>
                </a:solidFill>
                <a:latin typeface="Calibri"/>
              </a:rPr>
              <a:t>Unit tests, integration tests, Postman 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1 · Case Study &amp; Problem Statement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04672"/>
            <a:ext cx="1645920" cy="256032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0D1B2A"/>
                </a:solidFill>
                <a:latin typeface="Calibri"/>
              </a:rPr>
              <a:t>PHASE 1 —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394960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394960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84C"/>
                </a:solidFill>
                <a:latin typeface="Calibri"/>
              </a:rPr>
              <a:t>System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0D1B2A"/>
                </a:solidFill>
                <a:latin typeface="Calibri"/>
              </a:rPr>
              <a:t>The AUCA Student Mentorship Portal connects junior students (mentees) with senior students and lecturers (mentors) for academic and career guidance.</a:t>
            </a:r>
          </a:p>
          <a:p>
            <a:pPr algn="l">
              <a:spcAft>
                <a:spcPts val="400"/>
              </a:spcAft>
            </a:pPr>
            <a:endParaRPr sz="1200" b="0" dirty="0">
              <a:solidFill>
                <a:srgbClr val="0D1B2A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1" dirty="0">
                <a:solidFill>
                  <a:srgbClr val="0D1B2A"/>
                </a:solidFill>
                <a:latin typeface="Calibri"/>
              </a:rPr>
              <a:t>Users &amp; Roles: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5C6370"/>
                </a:solidFill>
                <a:latin typeface="Calibri"/>
              </a:rPr>
              <a:t>  ◆  Mentee — junior student seeking guidance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5C6370"/>
                </a:solidFill>
                <a:latin typeface="Calibri"/>
              </a:rPr>
              <a:t>  ◆  Mentor — senior student or lecturer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5C6370"/>
                </a:solidFill>
                <a:latin typeface="Calibri"/>
              </a:rPr>
              <a:t>  ◆  Admin — system manager with full control</a:t>
            </a:r>
          </a:p>
          <a:p>
            <a:pPr algn="l">
              <a:spcAft>
                <a:spcPts val="400"/>
              </a:spcAft>
            </a:pPr>
            <a:endParaRPr sz="1200" b="0" dirty="0">
              <a:solidFill>
                <a:srgbClr val="5C6370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1" dirty="0">
                <a:solidFill>
                  <a:srgbClr val="0D1B2A"/>
                </a:solidFill>
                <a:latin typeface="Calibri"/>
              </a:rPr>
              <a:t>Core Features: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5C6370"/>
                </a:solidFill>
                <a:latin typeface="Calibri"/>
              </a:rPr>
              <a:t>  ◆  User registration &amp; JWT authentication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5C6370"/>
                </a:solidFill>
                <a:latin typeface="Calibri"/>
              </a:rPr>
              <a:t>  ◆  Mentor application &amp; admin approval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5C6370"/>
                </a:solidFill>
                <a:latin typeface="Calibri"/>
              </a:rPr>
              <a:t>  ◆  Session booking &amp; status management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5C6370"/>
                </a:solidFill>
                <a:latin typeface="Calibri"/>
              </a:rPr>
              <a:t>  ◆  Feedback &amp; star rating system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5C6370"/>
                </a:solidFill>
                <a:latin typeface="Calibri"/>
              </a:rPr>
              <a:t>  ◆  Admin monitoring &amp; reporting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234440"/>
            <a:ext cx="5806440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989320" y="1234440"/>
            <a:ext cx="580644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0" y="126187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Problems Identified at AUCA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783080"/>
            <a:ext cx="54864" cy="6400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36208" y="178308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No structured mentorship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8" y="210312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C6370"/>
                </a:solidFill>
                <a:latin typeface="Calibri"/>
              </a:rPr>
              <a:t>Students relied on informal, untracked connections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2651760"/>
            <a:ext cx="54864" cy="6400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36208" y="265176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No session scheduling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29718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C6370"/>
                </a:solidFill>
                <a:latin typeface="Calibri"/>
              </a:rPr>
              <a:t>Meetings were arranged via WhatsApp with no record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0760" y="3520439"/>
            <a:ext cx="54864" cy="6400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36208" y="3520439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No feedback mechanism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3840479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C6370"/>
                </a:solidFill>
                <a:latin typeface="Calibri"/>
              </a:rPr>
              <a:t>Quality of mentorship could not be measured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4389120"/>
            <a:ext cx="54864" cy="6400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36208" y="438912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No admin oversight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8" y="4709159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C6370"/>
                </a:solidFill>
                <a:latin typeface="Calibri"/>
              </a:rPr>
              <a:t>No way to monitor mentorship activity or generate reports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60" y="5257800"/>
            <a:ext cx="54864" cy="6400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36208" y="52578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Mentor availability unknown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6208" y="557784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C6370"/>
                </a:solidFill>
                <a:latin typeface="Calibri"/>
              </a:rPr>
              <a:t>Students had no way to see who was available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1 · Use Case Diagram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04672"/>
            <a:ext cx="1828800" cy="256032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0D1B2A"/>
                </a:solidFill>
                <a:latin typeface="Calibri"/>
              </a:rPr>
              <a:t>OBJECT-ORIENTED DESIGN</a:t>
            </a:r>
          </a:p>
        </p:txBody>
      </p:sp>
      <p:pic>
        <p:nvPicPr>
          <p:cNvPr id="60" name="Picture 59" descr="A diagram of a network&#10;&#10;AI-generated content may be incorrect.">
            <a:extLst>
              <a:ext uri="{FF2B5EF4-FFF2-40B4-BE49-F238E27FC236}">
                <a16:creationId xmlns:a16="http://schemas.microsoft.com/office/drawing/2014/main" id="{5F0F50BB-2151-8ADA-D968-6C0420CC72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5310" y="1097280"/>
            <a:ext cx="3618204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1 · Class Diagram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04672"/>
            <a:ext cx="1828800" cy="256032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0D1B2A"/>
                </a:solidFill>
                <a:latin typeface="Calibri"/>
              </a:rPr>
              <a:t>OBJECT-ORIENTED DESIGN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36D13025-7D15-3F57-53A0-5E85263E1C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6447" y="1097280"/>
            <a:ext cx="5195730" cy="579729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1 · Activity Diagram — Session Lifecycle</a:t>
            </a:r>
          </a:p>
        </p:txBody>
      </p:sp>
      <p:sp>
        <p:nvSpPr>
          <p:cNvPr id="4" name="Oval 3"/>
          <p:cNvSpPr/>
          <p:nvPr/>
        </p:nvSpPr>
        <p:spPr>
          <a:xfrm>
            <a:off x="5225796" y="-571500"/>
            <a:ext cx="1737360" cy="320040"/>
          </a:xfrm>
          <a:prstGeom prst="ellipse">
            <a:avLst/>
          </a:prstGeom>
          <a:solidFill>
            <a:srgbClr val="C9A84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0D1B2A"/>
                </a:solidFill>
                <a:latin typeface="Calibri"/>
              </a:rPr>
              <a:t>START</a:t>
            </a:r>
          </a:p>
        </p:txBody>
      </p:sp>
      <p:sp>
        <p:nvSpPr>
          <p:cNvPr id="5" name="Block Arc 4"/>
          <p:cNvSpPr/>
          <p:nvPr/>
        </p:nvSpPr>
        <p:spPr>
          <a:xfrm>
            <a:off x="6085332" y="-251460"/>
            <a:ext cx="18288" cy="228600"/>
          </a:xfrm>
          <a:prstGeom prst="blockArc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lock Arc 25"/>
          <p:cNvSpPr/>
          <p:nvPr/>
        </p:nvSpPr>
        <p:spPr>
          <a:xfrm>
            <a:off x="6085332" y="6789419"/>
            <a:ext cx="18288" cy="228600"/>
          </a:xfrm>
          <a:prstGeom prst="blockArc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A diagram of a company&#10;&#10;AI-generated content may be incorrect.">
            <a:extLst>
              <a:ext uri="{FF2B5EF4-FFF2-40B4-BE49-F238E27FC236}">
                <a16:creationId xmlns:a16="http://schemas.microsoft.com/office/drawing/2014/main" id="{403D0F4A-076F-56E9-8067-A413E2D053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087" y="1120140"/>
            <a:ext cx="6800651" cy="57378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1 · Sequence Diagram — Session Booking Flow</a:t>
            </a:r>
          </a:p>
        </p:txBody>
      </p:sp>
      <p:pic>
        <p:nvPicPr>
          <p:cNvPr id="44" name="Picture 43" descr="A white sheet of paper with black lines&#10;&#10;AI-generated content may be incorrect.">
            <a:extLst>
              <a:ext uri="{FF2B5EF4-FFF2-40B4-BE49-F238E27FC236}">
                <a16:creationId xmlns:a16="http://schemas.microsoft.com/office/drawing/2014/main" id="{143737C4-09BF-3CDC-6757-78D2082FB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6455" y="1097280"/>
            <a:ext cx="2375915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1 · Component Diagram — System Architecture</a:t>
            </a:r>
          </a:p>
        </p:txBody>
      </p:sp>
      <p:pic>
        <p:nvPicPr>
          <p:cNvPr id="67" name="Picture 66" descr="A diagram of a software company&#10;&#10;AI-generated content may be incorrect.">
            <a:extLst>
              <a:ext uri="{FF2B5EF4-FFF2-40B4-BE49-F238E27FC236}">
                <a16:creationId xmlns:a16="http://schemas.microsoft.com/office/drawing/2014/main" id="{EB0E7DCB-C929-BF81-8FDA-AF34AB9AB9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999" y="1097280"/>
            <a:ext cx="7760151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2 · Tech Stack &amp; Design Patterns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04672"/>
            <a:ext cx="1645920" cy="256032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0D1B2A"/>
                </a:solidFill>
                <a:latin typeface="Calibri"/>
              </a:rPr>
              <a:t>PHASE 2 — PROTOTYPE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3657600" cy="2148840"/>
          </a:xfrm>
          <a:prstGeom prst="rect">
            <a:avLst/>
          </a:prstGeom>
          <a:solidFill>
            <a:srgbClr val="1A2F4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365760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41731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Frontend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9163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React 18 + Vite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945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CC"/>
                </a:solidFill>
                <a:latin typeface="Calibri"/>
              </a:rPr>
              <a:t>Component-based SPA with React Router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57600" cy="2148840"/>
          </a:xfrm>
          <a:prstGeom prst="rect">
            <a:avLst/>
          </a:prstGeom>
          <a:solidFill>
            <a:srgbClr val="1A2F4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5760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0" y="141731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Backend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91639"/>
            <a:ext cx="3383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FFFFF"/>
                </a:solidFill>
                <a:latin typeface="Calibri"/>
              </a:rPr>
              <a:t>Node.js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1945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CC"/>
                </a:solidFill>
                <a:latin typeface="Calibri"/>
              </a:rPr>
              <a:t>RESTful API with MVC architecture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280160"/>
            <a:ext cx="3657600" cy="2148840"/>
          </a:xfrm>
          <a:prstGeom prst="rect">
            <a:avLst/>
          </a:prstGeom>
          <a:solidFill>
            <a:srgbClr val="1A2F4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1280160"/>
            <a:ext cx="365760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20" y="141731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Database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169163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PostgreSQL 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1945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CC"/>
                </a:solidFill>
                <a:latin typeface="Calibri"/>
              </a:rPr>
              <a:t>Relational DB with ACID compliance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611879"/>
            <a:ext cx="3657600" cy="2148840"/>
          </a:xfrm>
          <a:prstGeom prst="rect">
            <a:avLst/>
          </a:prstGeom>
          <a:solidFill>
            <a:srgbClr val="1A2F4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65760" y="3611879"/>
            <a:ext cx="365760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74903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Auth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0233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JWT + bcrypt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526279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CC"/>
                </a:solidFill>
                <a:latin typeface="Calibri"/>
              </a:rPr>
              <a:t>Stateless auth with hashed passwords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3611879"/>
            <a:ext cx="3657600" cy="2148840"/>
          </a:xfrm>
          <a:prstGeom prst="rect">
            <a:avLst/>
          </a:prstGeom>
          <a:solidFill>
            <a:srgbClr val="1A2F4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251960" y="3611879"/>
            <a:ext cx="365760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89120" y="374903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DevOps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0233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Docker + Compose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526279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CC"/>
                </a:solidFill>
                <a:latin typeface="Calibri"/>
              </a:rPr>
              <a:t>Containerized multi-service deployment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8160" y="3611879"/>
            <a:ext cx="3657600" cy="2148840"/>
          </a:xfrm>
          <a:prstGeom prst="rect">
            <a:avLst/>
          </a:prstGeom>
          <a:solidFill>
            <a:srgbClr val="1A2F4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138160" y="3611879"/>
            <a:ext cx="365760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75320" y="3749039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Testing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402335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Jest + Supertest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526279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CC"/>
                </a:solidFill>
                <a:latin typeface="Calibri"/>
              </a:rPr>
              <a:t>Unit and integration test suites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715000"/>
            <a:ext cx="11430000" cy="914400"/>
          </a:xfrm>
          <a:prstGeom prst="rect">
            <a:avLst/>
          </a:prstGeom>
          <a:solidFill>
            <a:srgbClr val="1A2F4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65760" y="5715000"/>
            <a:ext cx="73152" cy="914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48640" y="57790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Calibri"/>
              </a:rPr>
              <a:t>Design Patterns Applied:  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0" y="5989320"/>
            <a:ext cx="1417320" cy="292608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800" b="1">
                <a:solidFill>
                  <a:srgbClr val="0D1B2A"/>
                </a:solidFill>
                <a:latin typeface="Calibri"/>
              </a:rPr>
              <a:t>MVC Pattern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51960" y="5989320"/>
            <a:ext cx="1417320" cy="292608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800" b="1">
                <a:solidFill>
                  <a:srgbClr val="0D1B2A"/>
                </a:solidFill>
                <a:latin typeface="Calibri"/>
              </a:rPr>
              <a:t>Singleton (DB Pool)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60720" y="5989320"/>
            <a:ext cx="1417320" cy="292608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800" b="1">
                <a:solidFill>
                  <a:srgbClr val="0D1B2A"/>
                </a:solidFill>
                <a:latin typeface="Calibri"/>
              </a:rPr>
              <a:t>Repository Pattern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69479" y="5989320"/>
            <a:ext cx="1417320" cy="292608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800" b="1">
                <a:solidFill>
                  <a:srgbClr val="0D1B2A"/>
                </a:solidFill>
                <a:latin typeface="Calibri"/>
              </a:rPr>
              <a:t>Middleware Chain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78240" y="5989320"/>
            <a:ext cx="1417320" cy="292608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800" b="1">
                <a:solidFill>
                  <a:srgbClr val="0D1B2A"/>
                </a:solidFill>
                <a:latin typeface="Calibri"/>
              </a:rPr>
              <a:t>Context API (React)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287000" y="5989320"/>
            <a:ext cx="1417320" cy="292608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800" b="1">
                <a:solidFill>
                  <a:srgbClr val="0D1B2A"/>
                </a:solidFill>
                <a:latin typeface="Calibri"/>
              </a:rPr>
              <a:t>Guard Clauses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3 · Docker &amp; Version Control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04672"/>
            <a:ext cx="2011680" cy="256032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0D1B2A"/>
                </a:solidFill>
                <a:latin typeface="Calibri"/>
              </a:rPr>
              <a:t>PHASE 3 — DOCKER &amp; GIT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577840" cy="53492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577840" cy="4114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53035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  <a:latin typeface="Calibri"/>
              </a:rPr>
              <a:t>Docker Configuration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D1B2A"/>
                </a:solidFill>
                <a:latin typeface="Calibri"/>
              </a:rPr>
              <a:t>Services: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C6370"/>
                </a:solidFill>
                <a:latin typeface="Calibri"/>
              </a:rPr>
              <a:t>  mentorship_db  — PostgreSQL 15-alpine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C6370"/>
                </a:solidFill>
                <a:latin typeface="Calibri"/>
              </a:rPr>
              <a:t>  mentorship_api — Node.js 20-alpine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5C6370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D1B2A"/>
                </a:solidFill>
                <a:latin typeface="Calibri"/>
              </a:rPr>
              <a:t>Key Commands: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65A82"/>
                </a:solidFill>
                <a:latin typeface="Calibri"/>
              </a:rPr>
              <a:t>  docker-compose up --build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65A82"/>
                </a:solidFill>
                <a:latin typeface="Calibri"/>
              </a:rPr>
              <a:t>  docker ps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65A82"/>
                </a:solidFill>
                <a:latin typeface="Calibri"/>
              </a:rPr>
              <a:t>  docker-compose down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065A82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D1B2A"/>
                </a:solidFill>
                <a:latin typeface="Calibri"/>
              </a:rPr>
              <a:t>Health Check: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D8C5E"/>
                </a:solidFill>
                <a:latin typeface="Calibri"/>
              </a:rPr>
              <a:t>  GET http://localhost:5000/health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C6370"/>
                </a:solidFill>
                <a:latin typeface="Calibri"/>
              </a:rPr>
              <a:t>  → { status: ok, project: AUCA Mentorship Portal }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5C6370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D1B2A"/>
                </a:solidFill>
                <a:latin typeface="Calibri"/>
              </a:rPr>
              <a:t>Volume: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C6370"/>
                </a:solidFill>
                <a:latin typeface="Calibri"/>
              </a:rPr>
              <a:t>  pgdata — persistent PostgreSQL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234440"/>
            <a:ext cx="5577840" cy="53492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234440"/>
            <a:ext cx="5577840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1261872"/>
            <a:ext cx="53035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  <a:latin typeface="Calibri"/>
              </a:rPr>
              <a:t>Git Branching Strategy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828800"/>
            <a:ext cx="54864" cy="41148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19088" y="175564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  <a:latin typeface="Calibri"/>
              </a:rPr>
              <a:t>main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029967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Production-ready code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395728"/>
            <a:ext cx="54864" cy="411480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19088" y="232257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  <a:latin typeface="Calibri"/>
              </a:rPr>
              <a:t>feature/auth-system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5968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JWT auth &amp; bcrypt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962656"/>
            <a:ext cx="54864" cy="411480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19088" y="316382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Mentor profiles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529584"/>
            <a:ext cx="54864" cy="411480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19088" y="3456432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  <a:latin typeface="Calibri"/>
              </a:rPr>
              <a:t>feature/session-management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373075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Booking system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096512"/>
            <a:ext cx="54864" cy="411480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19088" y="4023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  <a:latin typeface="Calibri"/>
              </a:rPr>
              <a:t>feature/feedback-system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4297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Ratings &amp; reviews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663440"/>
            <a:ext cx="54864" cy="411480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19088" y="459028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  <a:latin typeface="Calibri"/>
              </a:rPr>
              <a:t>feature/frontend-ui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4864607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React pages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5230368"/>
            <a:ext cx="54864" cy="411480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19088" y="515721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  <a:latin typeface="Calibri"/>
              </a:rPr>
              <a:t>feature/docker-setup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543153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Containerization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797296"/>
            <a:ext cx="54864" cy="411480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19088" y="5724144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  <a:latin typeface="Calibri"/>
              </a:rPr>
              <a:t>feature/tests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599846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Jest test suites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4 · API Testing Postman Collection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70432"/>
            <a:ext cx="11430000" cy="384048"/>
          </a:xfrm>
          <a:prstGeom prst="rect">
            <a:avLst/>
          </a:prstGeom>
          <a:solidFill>
            <a:srgbClr val="0D1B2A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18872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Endpoint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18872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Auth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59" y="118872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Description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72768"/>
            <a:ext cx="11430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636776"/>
            <a:ext cx="868680" cy="2560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6550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664208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  <a:latin typeface="Consolas"/>
              </a:rPr>
              <a:t>/api/auth/register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6642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C6370"/>
                </a:solidFill>
                <a:latin typeface="Calibri"/>
              </a:rPr>
              <a:t>Public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166420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Register mentee or mentor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75104"/>
            <a:ext cx="1143000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2039112"/>
            <a:ext cx="868680" cy="2560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20574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066544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  <a:latin typeface="Consolas"/>
              </a:rPr>
              <a:t>/api/auth/login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0665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C6370"/>
                </a:solidFill>
                <a:latin typeface="Calibri"/>
              </a:rPr>
              <a:t>Public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06654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Login — returns JWT token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377440"/>
            <a:ext cx="11430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2441448"/>
            <a:ext cx="868680" cy="256032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2459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24688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  <a:latin typeface="Consolas"/>
              </a:rPr>
              <a:t>/api/auth/me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24688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C6370"/>
                </a:solidFill>
                <a:latin typeface="Calibri"/>
              </a:rPr>
              <a:t>Any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246888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Get current authenticated user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779776"/>
            <a:ext cx="1143000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57200" y="2843784"/>
            <a:ext cx="868680" cy="256032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28620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2871216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  <a:latin typeface="Consolas"/>
              </a:rPr>
              <a:t>/api/users/mentors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77840" y="28712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C6370"/>
                </a:solidFill>
                <a:latin typeface="Calibri"/>
              </a:rPr>
              <a:t>Any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287121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List all approved mentors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182112"/>
            <a:ext cx="11430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57200" y="3246120"/>
            <a:ext cx="868680" cy="256032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32644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32735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  <a:latin typeface="Consolas"/>
              </a:rPr>
              <a:t>/api/users/pending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327355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Admin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78040" y="327355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Pending mentor applications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584448"/>
            <a:ext cx="1143000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57200" y="3648456"/>
            <a:ext cx="868680" cy="2560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7200" y="36667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PATCH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63040" y="3675887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  <a:latin typeface="Consolas"/>
              </a:rPr>
              <a:t>/api/users/:id/approve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77840" y="36758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Admin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78040" y="3675887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Approve or reject a mentor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986784"/>
            <a:ext cx="11430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57200" y="4050792"/>
            <a:ext cx="868680" cy="2560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57200" y="40690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63040" y="4078224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  <a:latin typeface="Consolas"/>
              </a:rPr>
              <a:t>/api/sessions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77840" y="407822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  <a:latin typeface="Calibri"/>
              </a:rPr>
              <a:t>Mentee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78040" y="407822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Book a new session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4389120"/>
            <a:ext cx="1143000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457200" y="4453128"/>
            <a:ext cx="868680" cy="256032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57200" y="4471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63040" y="4480559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  <a:latin typeface="Consolas"/>
              </a:rPr>
              <a:t>/api/sessions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77840" y="4480559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C6370"/>
                </a:solidFill>
                <a:latin typeface="Calibri"/>
              </a:rPr>
              <a:t>Any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78040" y="4480559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Get sessions for logged-in user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4791456"/>
            <a:ext cx="11430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457200" y="4855464"/>
            <a:ext cx="868680" cy="2560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57200" y="487375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PATCH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63040" y="4882896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  <a:latin typeface="Consolas"/>
              </a:rPr>
              <a:t>/api/sessions/:id/status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577840" y="488289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6A4F"/>
                </a:solidFill>
                <a:latin typeface="Calibri"/>
              </a:rPr>
              <a:t>Mentor/Admin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78040" y="488289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Update session status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5193792"/>
            <a:ext cx="1143000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457200" y="5257800"/>
            <a:ext cx="868680" cy="2560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57200" y="527608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463040" y="5285231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  <a:latin typeface="Consolas"/>
              </a:rPr>
              <a:t>/api/feedback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7840" y="5285231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  <a:latin typeface="Calibri"/>
              </a:rPr>
              <a:t>Mentee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178040" y="5285231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Submit feedback after session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5596128"/>
            <a:ext cx="11430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457200" y="5660136"/>
            <a:ext cx="868680" cy="256032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57200" y="567842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463040" y="5687568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  <a:latin typeface="Consolas"/>
              </a:rPr>
              <a:t>/api/feedback/mentor/:id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577840" y="5687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C6370"/>
                </a:solidFill>
                <a:latin typeface="Calibri"/>
              </a:rPr>
              <a:t>Any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178040" y="568756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Get feedback for a mentor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65760" y="5998464"/>
            <a:ext cx="11430000" cy="384048"/>
          </a:xfrm>
          <a:prstGeom prst="rect">
            <a:avLst/>
          </a:prstGeom>
          <a:solidFill>
            <a:srgbClr val="F4F6F9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457200" y="6062472"/>
            <a:ext cx="868680" cy="256032"/>
          </a:xfrm>
          <a:prstGeom prst="rect">
            <a:avLst/>
          </a:prstGeom>
          <a:solidFill>
            <a:srgbClr val="2D8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457200" y="6080759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463040" y="6089903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1B2A"/>
                </a:solidFill>
                <a:latin typeface="Consolas"/>
              </a:rPr>
              <a:t>/api/feedback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77840" y="608990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Admin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78040" y="6089903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C6370"/>
                </a:solidFill>
                <a:latin typeface="Calibri"/>
              </a:rPr>
              <a:t>Get all feedback (admin)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4 · Software Testing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04672"/>
            <a:ext cx="1645920" cy="256032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0D1B2A"/>
                </a:solidFill>
                <a:latin typeface="Calibri"/>
              </a:rPr>
              <a:t>PHASE 4 — TESTING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09F9C969-BD25-22D6-05DE-AA749196E9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72308"/>
            <a:ext cx="11430000" cy="568569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BE0175-4EFE-D7CE-FA64-D9D59C3B1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0281D44-81C7-E993-CF76-9FBCFC93D96B}"/>
              </a:ext>
            </a:extLst>
          </p:cNvPr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AF699C-0C7F-3171-A189-05B0A66ACCD0}"/>
              </a:ext>
            </a:extLst>
          </p:cNvPr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4 · Software Testing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3D94C8D-94F4-6286-2C7D-55323A662C26}"/>
              </a:ext>
            </a:extLst>
          </p:cNvPr>
          <p:cNvSpPr/>
          <p:nvPr/>
        </p:nvSpPr>
        <p:spPr>
          <a:xfrm>
            <a:off x="457200" y="804672"/>
            <a:ext cx="1645920" cy="256032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0D1B2A"/>
                </a:solidFill>
                <a:latin typeface="Calibri"/>
              </a:rPr>
              <a:t>PHASE 4 — TESTING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97CF68-A25D-380E-4035-04B84B83E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225295"/>
            <a:ext cx="11125200" cy="5568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9848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76B934-B759-184A-DB3E-9B2CB68A5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9C40A5E-AF4C-A068-30BF-8CAF0BA854C9}"/>
              </a:ext>
            </a:extLst>
          </p:cNvPr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F62C43-3910-208E-6057-6C3C7A1E186F}"/>
              </a:ext>
            </a:extLst>
          </p:cNvPr>
          <p:cNvSpPr txBox="1"/>
          <p:nvPr/>
        </p:nvSpPr>
        <p:spPr>
          <a:xfrm>
            <a:off x="457200" y="29260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Georgia"/>
              </a:rPr>
              <a:t>Phase 4 · Software Testing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A36C309-D234-1850-92DC-8BB5CCD70620}"/>
              </a:ext>
            </a:extLst>
          </p:cNvPr>
          <p:cNvSpPr/>
          <p:nvPr/>
        </p:nvSpPr>
        <p:spPr>
          <a:xfrm>
            <a:off x="457200" y="804672"/>
            <a:ext cx="1645920" cy="256032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0D1B2A"/>
                </a:solidFill>
                <a:latin typeface="Calibri"/>
              </a:rPr>
              <a:t>PHASE 4 — TESTING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4AE490-EAF7-B451-77E7-AF995A11C0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225295"/>
            <a:ext cx="12188825" cy="5573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4523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Georgia"/>
              </a:rPr>
              <a:t>Project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9A84C"/>
                </a:solidFill>
                <a:latin typeface="Calibri"/>
              </a:rPr>
              <a:t>AUCA Student Mentorship Portal — Complete Full-Stack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4864" cy="685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17830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System analysis, UML diagrams (Use Case, Class, Activity, Sequence, Component)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54864" cy="685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7432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090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Full-stack prototype — React frontend, Express API, PostgreSQL database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03320"/>
            <a:ext cx="54864" cy="685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37033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Phase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050791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Dockerized with docker-compose, Git version control with feature branches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663440"/>
            <a:ext cx="54864" cy="685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466344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Phase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501091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17 tests (100% pass rate) — unit, integration, Postman API validation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601968"/>
            <a:ext cx="105156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0080" y="6656832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9A84C"/>
                </a:solidFill>
                <a:latin typeface="Calibri"/>
              </a:rPr>
              <a:t>"Whatever you do, work at it with all your heart, as working for the Lord." — Colossians 3:23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805</Words>
  <Application>Microsoft Office PowerPoint</Application>
  <PresentationFormat>Custom</PresentationFormat>
  <Paragraphs>191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Aime</cp:lastModifiedBy>
  <cp:revision>9</cp:revision>
  <dcterms:created xsi:type="dcterms:W3CDTF">2013-01-27T09:14:16Z</dcterms:created>
  <dcterms:modified xsi:type="dcterms:W3CDTF">2026-05-14T11:05:29Z</dcterms:modified>
  <cp:category/>
</cp:coreProperties>
</file>