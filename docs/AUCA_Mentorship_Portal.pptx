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0952" y="3200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9A84C"/>
                </a:solidFill>
                <a:latin typeface="Calibri"/>
              </a:rPr>
              <a:t>ADVENTIST UNIVERSITY OF CENTRAL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2" y="71323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Faculty of Information Technology ·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AUCA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9A84C"/>
                </a:solidFill>
                <a:latin typeface="Georgia"/>
              </a:rPr>
              <a:t>Mentorship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  <a:latin typeface="Calibri"/>
              </a:rPr>
              <a:t>Best Programming Practices and Design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7315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Confiance UFITAMAHORO  ·  Student ID: 27185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Instructor: RUTARINDWA JEAN PIERRE  ·  Academic Year 2025–2026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84C"/>
                </a:solidFill>
                <a:latin typeface="Calibri"/>
              </a:rPr>
              <a:t>"As iron sharpens iron, so one person sharpens another." — Proverbs 27:17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25880"/>
            <a:ext cx="55778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640080" cy="2103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2011680"/>
            <a:ext cx="6035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4904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288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System Analysis &amp;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3317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370"/>
                </a:solidFill>
                <a:latin typeface="Calibri"/>
              </a:rPr>
              <a:t>Case study, problem statement, OOP diagrams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5778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640080" cy="2103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11680"/>
            <a:ext cx="6035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14904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8288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Software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23317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370"/>
                </a:solidFill>
                <a:latin typeface="Calibri"/>
              </a:rPr>
              <a:t>Architecture, design patterns, tech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57600"/>
            <a:ext cx="55778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57600"/>
            <a:ext cx="640080" cy="2103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343400"/>
            <a:ext cx="6035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3822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4160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Docker &amp; Version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6634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370"/>
                </a:solidFill>
                <a:latin typeface="Calibri"/>
              </a:rPr>
              <a:t>Containerization, Git workflow, GitHub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657600"/>
            <a:ext cx="55778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657600"/>
            <a:ext cx="640080" cy="2103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4343400"/>
            <a:ext cx="6035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822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160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Testing &amp;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6634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370"/>
                </a:solidFill>
                <a:latin typeface="Calibri"/>
              </a:rPr>
              <a:t>Unit tests, integration tests, Postman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Phase 1 · Case Study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04672"/>
            <a:ext cx="1645920" cy="256032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PHASE 1 —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949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System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D1B2A"/>
                </a:solidFill>
                <a:latin typeface="Calibri"/>
              </a:rPr>
              <a:t>The AUCA Student Mentorship Portal connects junior students (mentees) with senior students and lecturers (mentors) for academic and career guidance.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D1B2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D1B2A"/>
                </a:solidFill>
                <a:latin typeface="Calibri"/>
              </a:rPr>
              <a:t>Users &amp; Roles: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  ◆  Mentee — junior student seeking guidance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  ◆  Mentor — senior student or lecturer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  ◆  Admin — system manager with full control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D1B2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D1B2A"/>
                </a:solidFill>
                <a:latin typeface="Calibri"/>
              </a:rPr>
              <a:t>Core Features: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  ◆  User registration &amp; JWT authentication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  ◆  Mentor application &amp; admin approval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  ◆  Session booking &amp; status management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  ◆  Feedback &amp; star rating system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  ◆  Admin monitoring &amp; reporting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234440"/>
            <a:ext cx="580644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234440"/>
            <a:ext cx="580644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618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Problems Identified at AUCA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783080"/>
            <a:ext cx="54864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No structured mentorship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103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370"/>
                </a:solidFill>
                <a:latin typeface="Calibri"/>
              </a:rPr>
              <a:t>Students relied on informal, untracked connections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651760"/>
            <a:ext cx="54864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651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No session scheduling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971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370"/>
                </a:solidFill>
                <a:latin typeface="Calibri"/>
              </a:rPr>
              <a:t>Meetings were arranged via WhatsApp with no record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520439"/>
            <a:ext cx="54864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352043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No feedback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84047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370"/>
                </a:solidFill>
                <a:latin typeface="Calibri"/>
              </a:rPr>
              <a:t>Quality of mentorship could not be measured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389120"/>
            <a:ext cx="54864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4389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No admin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470915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370"/>
                </a:solidFill>
                <a:latin typeface="Calibri"/>
              </a:rPr>
              <a:t>No way to monitor mentorship activity or generate reports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5257800"/>
            <a:ext cx="54864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5257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Mentor availability unknown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5577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370"/>
                </a:solidFill>
                <a:latin typeface="Calibri"/>
              </a:rPr>
              <a:t>Students had no way to see who was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Phase 1 · Use Case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04672"/>
            <a:ext cx="1828800" cy="256032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OBJECT-ORIENTED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188720"/>
            <a:ext cx="6400800" cy="5394960"/>
          </a:xfrm>
          <a:prstGeom prst="rect">
            <a:avLst/>
          </a:prstGeom>
          <a:solidFill>
            <a:srgbClr val="F8F9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6400800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21615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AUCA Mentorship Portal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627632"/>
            <a:ext cx="1920240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6459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Mentee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0574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2057400"/>
            <a:ext cx="54864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222199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Register / 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306324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3063240"/>
            <a:ext cx="54864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2968" y="322783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Browse Approved Mentors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40690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3240" y="4069080"/>
            <a:ext cx="54864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2968" y="423367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Book 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507492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5074920"/>
            <a:ext cx="54864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72968" y="523951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Leave Feedback &amp; Rating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627632"/>
            <a:ext cx="1920240" cy="32004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6459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Mentor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20574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2057400"/>
            <a:ext cx="54864" cy="8686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222199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Register / Login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306324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0640" y="3063240"/>
            <a:ext cx="54864" cy="8686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0368" y="322783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Submit Mentor Application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40690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0" y="4069080"/>
            <a:ext cx="54864" cy="8686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423367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Accept / Decline Session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507492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0" y="5074920"/>
            <a:ext cx="54864" cy="8686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0368" y="523951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Mark Session Complete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1627632"/>
            <a:ext cx="19202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16459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20574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78040" y="2057400"/>
            <a:ext cx="54864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87768" y="222199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Approve / Reject Mentor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306324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78040" y="3063240"/>
            <a:ext cx="54864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87768" y="322783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Manage All 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40690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78040" y="4069080"/>
            <a:ext cx="54864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87768" y="423367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View All Sessions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040" y="507492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78040" y="5074920"/>
            <a:ext cx="54864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7768" y="523951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View Reports &amp; Feedback</a:t>
            </a:r>
          </a:p>
        </p:txBody>
      </p:sp>
      <p:sp>
        <p:nvSpPr>
          <p:cNvPr id="50" name="Oval 49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35915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" y="23774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Mentee</a:t>
            </a:r>
          </a:p>
        </p:txBody>
      </p:sp>
      <p:sp>
        <p:nvSpPr>
          <p:cNvPr id="53" name="Oval 52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73075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" y="37490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Mentor</a:t>
            </a:r>
          </a:p>
        </p:txBody>
      </p:sp>
      <p:sp>
        <p:nvSpPr>
          <p:cNvPr id="56" name="Oval 55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10235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5120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Phase 1 · Class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04672"/>
            <a:ext cx="1828800" cy="256032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OBJECT-ORIENTED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84C"/>
                </a:solidFill>
                <a:latin typeface="Calibri"/>
              </a:rPr>
              <a:t>« class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990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id: SERIAL 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1109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name: VARCHAR(100)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1226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email: VARCHAR UNIQUE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1343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password_hash: VARCHAR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1460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role: ENUM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bio: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1693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──────────────────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1810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findByEmail()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findById()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2044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create()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234440"/>
            <a:ext cx="55778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234440"/>
            <a:ext cx="557784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25272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84C"/>
                </a:solidFill>
                <a:latin typeface="Calibri"/>
              </a:rPr>
              <a:t>« class 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3990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MentorProfile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0992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id: SERIAL PK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1109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user_id: FK →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1226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expertise: TEXT[]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1343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department: VARCHAR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1460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approval_status: ENUM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1576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approved_by: FK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91693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──────────────────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1810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getApproved()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1927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updateStatus()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886200"/>
            <a:ext cx="55778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886200"/>
            <a:ext cx="557784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904487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84C"/>
                </a:solidFill>
                <a:latin typeface="Calibri"/>
              </a:rPr>
              <a:t>« class 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05079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36168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id: SERIAL PK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562855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mentor_id: FK → 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76402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mentee_id: FK → 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96519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title: VARCHAR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166359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scheduled_at: TIMESTAMP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367527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status: ENUM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6869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──────────────────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76986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create()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971031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updateStatus()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17220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getByMentor/Mentee()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886200"/>
            <a:ext cx="55778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886200"/>
            <a:ext cx="5577840" cy="411480"/>
          </a:xfrm>
          <a:prstGeom prst="rect">
            <a:avLst/>
          </a:prstGeom>
          <a:solidFill>
            <a:srgbClr val="7B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3904487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84C"/>
                </a:solidFill>
                <a:latin typeface="Calibri"/>
              </a:rPr>
              <a:t>« class 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405079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36168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id: SERIAL 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562855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session_id: FK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76402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mentee_id: FK → User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96519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mentor_id: FK → User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166359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rating: INT (1–5)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367527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+ review: TEXT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56869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──────────────────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76986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create()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971031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findBySession()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617220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+ getByMentor()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06440" y="22860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C6370"/>
                </a:solidFill>
                <a:latin typeface="Calibri"/>
              </a:rPr>
              <a:t>1 ──────── 0..1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9377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C6370"/>
                </a:solidFill>
                <a:latin typeface="Calibri"/>
              </a:rPr>
              <a:t>1 ──────── 0..*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Phase 1 · Activity Diagram — Session Lifecycle</a:t>
            </a:r>
          </a:p>
        </p:txBody>
      </p:sp>
      <p:sp>
        <p:nvSpPr>
          <p:cNvPr id="4" name="Oval 3"/>
          <p:cNvSpPr/>
          <p:nvPr/>
        </p:nvSpPr>
        <p:spPr>
          <a:xfrm>
            <a:off x="5225796" y="-571500"/>
            <a:ext cx="1737360" cy="320040"/>
          </a:xfrm>
          <a:prstGeom prst="ellipse">
            <a:avLst/>
          </a:prstGeom>
          <a:solidFill>
            <a:srgbClr val="C9A84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START</a:t>
            </a:r>
          </a:p>
        </p:txBody>
      </p:sp>
      <p:sp>
        <p:nvSpPr>
          <p:cNvPr id="5" name="Block Arc 4"/>
          <p:cNvSpPr/>
          <p:nvPr/>
        </p:nvSpPr>
        <p:spPr>
          <a:xfrm>
            <a:off x="6085332" y="-251460"/>
            <a:ext cx="18288" cy="228600"/>
          </a:xfrm>
          <a:prstGeom prst="blockArc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08276" y="-22860"/>
            <a:ext cx="7772400" cy="777240"/>
          </a:xfrm>
          <a:prstGeom prst="rect">
            <a:avLst/>
          </a:prstGeom>
          <a:solidFill>
            <a:srgbClr val="0D1B2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5436" y="1600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Mentee Registers / Logs In</a:t>
            </a:r>
          </a:p>
        </p:txBody>
      </p:sp>
      <p:sp>
        <p:nvSpPr>
          <p:cNvPr id="8" name="Block Arc 7"/>
          <p:cNvSpPr/>
          <p:nvPr/>
        </p:nvSpPr>
        <p:spPr>
          <a:xfrm>
            <a:off x="6085332" y="754380"/>
            <a:ext cx="18288" cy="228600"/>
          </a:xfrm>
          <a:prstGeom prst="blockArc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08276" y="982980"/>
            <a:ext cx="7772400" cy="777240"/>
          </a:xfrm>
          <a:prstGeom prst="rect">
            <a:avLst/>
          </a:prstGeom>
          <a:solidFill>
            <a:srgbClr val="065A8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5436" y="11658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Mentor Applies &amp; Admin Approves</a:t>
            </a:r>
          </a:p>
        </p:txBody>
      </p:sp>
      <p:sp>
        <p:nvSpPr>
          <p:cNvPr id="11" name="Block Arc 10"/>
          <p:cNvSpPr/>
          <p:nvPr/>
        </p:nvSpPr>
        <p:spPr>
          <a:xfrm>
            <a:off x="6085332" y="1760220"/>
            <a:ext cx="18288" cy="228600"/>
          </a:xfrm>
          <a:prstGeom prst="blockArc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08276" y="1988820"/>
            <a:ext cx="7772400" cy="777240"/>
          </a:xfrm>
          <a:prstGeom prst="rect">
            <a:avLst/>
          </a:prstGeom>
          <a:solidFill>
            <a:srgbClr val="0D1B2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5436" y="21717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Mentee Browses Approved Mentors</a:t>
            </a:r>
          </a:p>
        </p:txBody>
      </p:sp>
      <p:sp>
        <p:nvSpPr>
          <p:cNvPr id="14" name="Block Arc 13"/>
          <p:cNvSpPr/>
          <p:nvPr/>
        </p:nvSpPr>
        <p:spPr>
          <a:xfrm>
            <a:off x="6085332" y="2766060"/>
            <a:ext cx="18288" cy="228600"/>
          </a:xfrm>
          <a:prstGeom prst="blockArc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8276" y="2994660"/>
            <a:ext cx="7772400" cy="777240"/>
          </a:xfrm>
          <a:prstGeom prst="rect">
            <a:avLst/>
          </a:prstGeom>
          <a:solidFill>
            <a:srgbClr val="C9A84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5436" y="31775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Mentee Books Session  →  Status: PENDING</a:t>
            </a:r>
          </a:p>
        </p:txBody>
      </p:sp>
      <p:sp>
        <p:nvSpPr>
          <p:cNvPr id="17" name="Block Arc 16"/>
          <p:cNvSpPr/>
          <p:nvPr/>
        </p:nvSpPr>
        <p:spPr>
          <a:xfrm>
            <a:off x="6085332" y="3771900"/>
            <a:ext cx="18288" cy="228600"/>
          </a:xfrm>
          <a:prstGeom prst="blockArc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08276" y="4000500"/>
            <a:ext cx="7772400" cy="777240"/>
          </a:xfrm>
          <a:prstGeom prst="rect">
            <a:avLst/>
          </a:prstGeom>
          <a:solidFill>
            <a:srgbClr val="2D8C5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45436" y="41833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Mentor: Accept → ACCEPTED  |  Decline → DECLINED</a:t>
            </a:r>
          </a:p>
        </p:txBody>
      </p:sp>
      <p:sp>
        <p:nvSpPr>
          <p:cNvPr id="20" name="Block Arc 19"/>
          <p:cNvSpPr/>
          <p:nvPr/>
        </p:nvSpPr>
        <p:spPr>
          <a:xfrm>
            <a:off x="6085332" y="4777740"/>
            <a:ext cx="18288" cy="228600"/>
          </a:xfrm>
          <a:prstGeom prst="blockArc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08276" y="5006340"/>
            <a:ext cx="7772400" cy="777240"/>
          </a:xfrm>
          <a:prstGeom prst="rect">
            <a:avLst/>
          </a:prstGeom>
          <a:solidFill>
            <a:srgbClr val="2D6A4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5436" y="51892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Session Takes Place</a:t>
            </a:r>
          </a:p>
        </p:txBody>
      </p:sp>
      <p:sp>
        <p:nvSpPr>
          <p:cNvPr id="23" name="Block Arc 22"/>
          <p:cNvSpPr/>
          <p:nvPr/>
        </p:nvSpPr>
        <p:spPr>
          <a:xfrm>
            <a:off x="6085332" y="5783579"/>
            <a:ext cx="18288" cy="228600"/>
          </a:xfrm>
          <a:prstGeom prst="blockArc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08276" y="6012179"/>
            <a:ext cx="7772400" cy="777240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45436" y="6195059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Mentor Marks COMPLETED</a:t>
            </a:r>
          </a:p>
        </p:txBody>
      </p:sp>
      <p:sp>
        <p:nvSpPr>
          <p:cNvPr id="26" name="Block Arc 25"/>
          <p:cNvSpPr/>
          <p:nvPr/>
        </p:nvSpPr>
        <p:spPr>
          <a:xfrm>
            <a:off x="6085332" y="6789419"/>
            <a:ext cx="18288" cy="228600"/>
          </a:xfrm>
          <a:prstGeom prst="blockArc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08276" y="7018019"/>
            <a:ext cx="7772400" cy="777240"/>
          </a:xfrm>
          <a:prstGeom prst="rect">
            <a:avLst/>
          </a:prstGeom>
          <a:solidFill>
            <a:srgbClr val="C9A84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5436" y="7200899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Mentee Submits Feedback &amp; Rating</a:t>
            </a:r>
          </a:p>
        </p:txBody>
      </p:sp>
      <p:sp>
        <p:nvSpPr>
          <p:cNvPr id="29" name="Block Arc 28"/>
          <p:cNvSpPr/>
          <p:nvPr/>
        </p:nvSpPr>
        <p:spPr>
          <a:xfrm>
            <a:off x="6085332" y="7795259"/>
            <a:ext cx="18288" cy="228600"/>
          </a:xfrm>
          <a:prstGeom prst="blockArc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225796" y="8023859"/>
            <a:ext cx="1737360" cy="32004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Phase 1 · Sequence Diagram — Session Booking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920240" cy="658368"/>
          </a:xfrm>
          <a:prstGeom prst="rect">
            <a:avLst/>
          </a:prstGeom>
          <a:solidFill>
            <a:srgbClr val="065A8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Mentee</a:t>
            </a:r>
          </a:p>
        </p:txBody>
      </p:sp>
      <p:sp>
        <p:nvSpPr>
          <p:cNvPr id="6" name="Block Arc 5"/>
          <p:cNvSpPr/>
          <p:nvPr/>
        </p:nvSpPr>
        <p:spPr>
          <a:xfrm>
            <a:off x="1408176" y="1828800"/>
            <a:ext cx="18288" cy="4572000"/>
          </a:xfrm>
          <a:prstGeom prst="blockArc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1170432"/>
            <a:ext cx="192024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7043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Frontend
(React)</a:t>
            </a:r>
          </a:p>
        </p:txBody>
      </p:sp>
      <p:sp>
        <p:nvSpPr>
          <p:cNvPr id="9" name="Block Arc 8"/>
          <p:cNvSpPr/>
          <p:nvPr/>
        </p:nvSpPr>
        <p:spPr>
          <a:xfrm>
            <a:off x="3694176" y="1828800"/>
            <a:ext cx="18288" cy="4572000"/>
          </a:xfrm>
          <a:prstGeom prst="blockArc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170432"/>
            <a:ext cx="1920240" cy="658368"/>
          </a:xfrm>
          <a:prstGeom prst="rect">
            <a:avLst/>
          </a:prstGeom>
          <a:solidFill>
            <a:srgbClr val="2D6A4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17043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Express API
(Backend)</a:t>
            </a:r>
          </a:p>
        </p:txBody>
      </p:sp>
      <p:sp>
        <p:nvSpPr>
          <p:cNvPr id="12" name="Block Arc 11"/>
          <p:cNvSpPr/>
          <p:nvPr/>
        </p:nvSpPr>
        <p:spPr>
          <a:xfrm>
            <a:off x="6071616" y="1828800"/>
            <a:ext cx="18288" cy="4572000"/>
          </a:xfrm>
          <a:prstGeom prst="blockArc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170432"/>
            <a:ext cx="1920240" cy="658368"/>
          </a:xfrm>
          <a:prstGeom prst="rect">
            <a:avLst/>
          </a:prstGeom>
          <a:solidFill>
            <a:srgbClr val="7B2D00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17043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PostgreSQL
(DB)</a:t>
            </a:r>
          </a:p>
        </p:txBody>
      </p:sp>
      <p:sp>
        <p:nvSpPr>
          <p:cNvPr id="15" name="Block Arc 14"/>
          <p:cNvSpPr/>
          <p:nvPr/>
        </p:nvSpPr>
        <p:spPr>
          <a:xfrm>
            <a:off x="8449056" y="1828800"/>
            <a:ext cx="18288" cy="4572000"/>
          </a:xfrm>
          <a:prstGeom prst="blockArc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75520" y="1170432"/>
            <a:ext cx="1920240" cy="658368"/>
          </a:xfrm>
          <a:prstGeom prst="rect">
            <a:avLst/>
          </a:prstGeom>
          <a:solidFill>
            <a:srgbClr val="065A8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17043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Mentor</a:t>
            </a:r>
          </a:p>
        </p:txBody>
      </p:sp>
      <p:sp>
        <p:nvSpPr>
          <p:cNvPr id="18" name="Block Arc 17"/>
          <p:cNvSpPr/>
          <p:nvPr/>
        </p:nvSpPr>
        <p:spPr>
          <a:xfrm>
            <a:off x="10826496" y="1828800"/>
            <a:ext cx="18288" cy="4572000"/>
          </a:xfrm>
          <a:prstGeom prst="blockArc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lock Arc 18"/>
          <p:cNvSpPr/>
          <p:nvPr/>
        </p:nvSpPr>
        <p:spPr>
          <a:xfrm>
            <a:off x="1417320" y="2057400"/>
            <a:ext cx="2286000" cy="9144"/>
          </a:xfrm>
          <a:prstGeom prst="blockArc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39" y="1837943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1B2A"/>
                </a:solidFill>
                <a:latin typeface="Calibri"/>
              </a:rPr>
              <a:t>POST /auth/login</a:t>
            </a:r>
          </a:p>
        </p:txBody>
      </p:sp>
      <p:sp>
        <p:nvSpPr>
          <p:cNvPr id="21" name="Block Arc 20"/>
          <p:cNvSpPr/>
          <p:nvPr/>
        </p:nvSpPr>
        <p:spPr>
          <a:xfrm>
            <a:off x="3703320" y="2514600"/>
            <a:ext cx="2377439" cy="9144"/>
          </a:xfrm>
          <a:prstGeom prst="blockArc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59" y="229514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1B2A"/>
                </a:solidFill>
                <a:latin typeface="Calibri"/>
              </a:rPr>
              <a:t>Validate credentials + JWT</a:t>
            </a:r>
          </a:p>
        </p:txBody>
      </p:sp>
      <p:sp>
        <p:nvSpPr>
          <p:cNvPr id="23" name="Block Arc 22"/>
          <p:cNvSpPr/>
          <p:nvPr/>
        </p:nvSpPr>
        <p:spPr>
          <a:xfrm>
            <a:off x="6080759" y="2971800"/>
            <a:ext cx="2377440" cy="9144"/>
          </a:xfrm>
          <a:prstGeom prst="blockArc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199" y="275234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1B2A"/>
                </a:solidFill>
                <a:latin typeface="Calibri"/>
              </a:rPr>
              <a:t>SELECT user by email</a:t>
            </a:r>
          </a:p>
        </p:txBody>
      </p:sp>
      <p:sp>
        <p:nvSpPr>
          <p:cNvPr id="25" name="Block Arc 24"/>
          <p:cNvSpPr/>
          <p:nvPr/>
        </p:nvSpPr>
        <p:spPr>
          <a:xfrm>
            <a:off x="6080759" y="3337560"/>
            <a:ext cx="2377440" cy="9144"/>
          </a:xfrm>
          <a:prstGeom prst="blockArc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199" y="311810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C6370"/>
                </a:solidFill>
                <a:latin typeface="Calibri"/>
              </a:rPr>
              <a:t>user row returned</a:t>
            </a:r>
          </a:p>
        </p:txBody>
      </p:sp>
      <p:sp>
        <p:nvSpPr>
          <p:cNvPr id="27" name="Block Arc 26"/>
          <p:cNvSpPr/>
          <p:nvPr/>
        </p:nvSpPr>
        <p:spPr>
          <a:xfrm>
            <a:off x="3703320" y="3703320"/>
            <a:ext cx="2377439" cy="9144"/>
          </a:xfrm>
          <a:prstGeom prst="blockArc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59" y="3483863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C6370"/>
                </a:solidFill>
                <a:latin typeface="Calibri"/>
              </a:rPr>
              <a:t>200 { token, user }</a:t>
            </a:r>
          </a:p>
        </p:txBody>
      </p:sp>
      <p:sp>
        <p:nvSpPr>
          <p:cNvPr id="29" name="Block Arc 28"/>
          <p:cNvSpPr/>
          <p:nvPr/>
        </p:nvSpPr>
        <p:spPr>
          <a:xfrm>
            <a:off x="1417320" y="4069080"/>
            <a:ext cx="2286000" cy="9144"/>
          </a:xfrm>
          <a:prstGeom prst="blockArc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39" y="384962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C6370"/>
                </a:solidFill>
                <a:latin typeface="Calibri"/>
              </a:rPr>
              <a:t>Store token, redirect</a:t>
            </a:r>
          </a:p>
        </p:txBody>
      </p:sp>
      <p:sp>
        <p:nvSpPr>
          <p:cNvPr id="31" name="Block Arc 30"/>
          <p:cNvSpPr/>
          <p:nvPr/>
        </p:nvSpPr>
        <p:spPr>
          <a:xfrm>
            <a:off x="1417320" y="4526280"/>
            <a:ext cx="2286000" cy="9144"/>
          </a:xfrm>
          <a:prstGeom prst="blockArc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39" y="430682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1B2A"/>
                </a:solidFill>
                <a:latin typeface="Calibri"/>
              </a:rPr>
              <a:t>POST /sessions + JWT</a:t>
            </a:r>
          </a:p>
        </p:txBody>
      </p:sp>
      <p:sp>
        <p:nvSpPr>
          <p:cNvPr id="33" name="Block Arc 32"/>
          <p:cNvSpPr/>
          <p:nvPr/>
        </p:nvSpPr>
        <p:spPr>
          <a:xfrm>
            <a:off x="3703320" y="4892040"/>
            <a:ext cx="2377439" cy="9144"/>
          </a:xfrm>
          <a:prstGeom prst="blockArc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59" y="4672583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1B2A"/>
                </a:solidFill>
                <a:latin typeface="Calibri"/>
              </a:rPr>
              <a:t>Check mentor approved</a:t>
            </a:r>
          </a:p>
        </p:txBody>
      </p:sp>
      <p:sp>
        <p:nvSpPr>
          <p:cNvPr id="35" name="Block Arc 34"/>
          <p:cNvSpPr/>
          <p:nvPr/>
        </p:nvSpPr>
        <p:spPr>
          <a:xfrm>
            <a:off x="6080759" y="5257800"/>
            <a:ext cx="2377440" cy="9144"/>
          </a:xfrm>
          <a:prstGeom prst="blockArc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199" y="503834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1B2A"/>
                </a:solidFill>
                <a:latin typeface="Calibri"/>
              </a:rPr>
              <a:t>INSERT session (pending)</a:t>
            </a:r>
          </a:p>
        </p:txBody>
      </p:sp>
      <p:sp>
        <p:nvSpPr>
          <p:cNvPr id="37" name="Block Arc 36"/>
          <p:cNvSpPr/>
          <p:nvPr/>
        </p:nvSpPr>
        <p:spPr>
          <a:xfrm>
            <a:off x="6080759" y="5623560"/>
            <a:ext cx="2377440" cy="9144"/>
          </a:xfrm>
          <a:prstGeom prst="blockArc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199" y="540410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C6370"/>
                </a:solidFill>
                <a:latin typeface="Calibri"/>
              </a:rPr>
              <a:t>session created</a:t>
            </a:r>
          </a:p>
        </p:txBody>
      </p:sp>
      <p:sp>
        <p:nvSpPr>
          <p:cNvPr id="39" name="Block Arc 38"/>
          <p:cNvSpPr/>
          <p:nvPr/>
        </p:nvSpPr>
        <p:spPr>
          <a:xfrm>
            <a:off x="3703320" y="5943600"/>
            <a:ext cx="2377439" cy="9144"/>
          </a:xfrm>
          <a:prstGeom prst="blockArc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94759" y="572414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C6370"/>
                </a:solidFill>
                <a:latin typeface="Calibri"/>
              </a:rPr>
              <a:t>201 { session }</a:t>
            </a:r>
          </a:p>
        </p:txBody>
      </p:sp>
      <p:sp>
        <p:nvSpPr>
          <p:cNvPr id="41" name="Block Arc 40"/>
          <p:cNvSpPr/>
          <p:nvPr/>
        </p:nvSpPr>
        <p:spPr>
          <a:xfrm>
            <a:off x="6080759" y="6291072"/>
            <a:ext cx="4754880" cy="9144"/>
          </a:xfrm>
          <a:prstGeom prst="blockArc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60716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8C5E"/>
                </a:solidFill>
                <a:latin typeface="Calibri"/>
              </a:rPr>
              <a:t>PATCH status=accepted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Phase 1 · Component Diagram —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118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11880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React Frontend  |  port 5173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AuthContext.jsx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Login / 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34639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9260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83279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Mentors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3192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0233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Sessions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8056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Feedback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2920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120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Navbar · MentorCard · SessionCard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7784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6692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services/api.js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126479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62179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styles/main.css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1188720"/>
            <a:ext cx="36118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1188720"/>
            <a:ext cx="3611880" cy="43891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21615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Express API  |  port 5000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173736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authMiddleware (JWT)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228600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errorHandler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2834639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29260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authRoutes / userRoutes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3383279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2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sessionRoutes / feedbackRoutes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393192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40233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authController / userController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448056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sessionController / feedbackController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502920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9432" y="5120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User · MentorProfile · Session · Feedback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557784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9432" y="56692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config/db.js (pg Pool Singleton)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1188720"/>
            <a:ext cx="36118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1188720"/>
            <a:ext cx="3611880" cy="438912"/>
          </a:xfrm>
          <a:prstGeom prst="rect">
            <a:avLst/>
          </a:prstGeom>
          <a:solidFill>
            <a:srgbClr val="7B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121615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PostgreSQL  |  port 5432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200" y="173736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7072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users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228600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7072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mentor_profiles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58200" y="2834639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7072" y="29260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sessions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3383279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77072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feedback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58200" y="393192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77072" y="40233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schema.sql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58200" y="448056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77072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seed.sql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58200" y="5029200"/>
            <a:ext cx="3337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77072" y="5120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Docker: mentorship_db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86200" y="384048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REST API ──►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384048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pg Pool ──►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6400800"/>
            <a:ext cx="361188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642823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🐳  Docker Compose: mentorship_api + mentorship_db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Phase 2 · Tech Stack &amp; Design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04672"/>
            <a:ext cx="1645920" cy="256032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PHASE 2 —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2148840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1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Frontend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Component-based SPA with React Router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3657600" cy="2148840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36576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1731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Backend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Node.js +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RESTful API with MVC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2148840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6576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1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91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PostgreSQL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Relational DB with ACID compliance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11879"/>
            <a:ext cx="3657600" cy="2148840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11879"/>
            <a:ext cx="36576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233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JWT + bcrypt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262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Stateless auth with hashed passwords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611879"/>
            <a:ext cx="3657600" cy="2148840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611879"/>
            <a:ext cx="36576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DevOps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0233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Docker + Compose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5262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Containerized multi-service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611879"/>
            <a:ext cx="3657600" cy="2148840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611879"/>
            <a:ext cx="36576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0233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Jest + Supertest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5262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Unit and integration test suites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11430000" cy="914400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715000"/>
            <a:ext cx="73152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7790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Design Patterns Applied: 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5989320"/>
            <a:ext cx="1417320" cy="29260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D1B2A"/>
                </a:solidFill>
                <a:latin typeface="Calibri"/>
              </a:rPr>
              <a:t>MVC Pattern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5989320"/>
            <a:ext cx="1417320" cy="29260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D1B2A"/>
                </a:solidFill>
                <a:latin typeface="Calibri"/>
              </a:rPr>
              <a:t>Singleton (DB Pool)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5989320"/>
            <a:ext cx="1417320" cy="29260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D1B2A"/>
                </a:solidFill>
                <a:latin typeface="Calibri"/>
              </a:rPr>
              <a:t>Repository Pattern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9479" y="5989320"/>
            <a:ext cx="1417320" cy="29260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D1B2A"/>
                </a:solidFill>
                <a:latin typeface="Calibri"/>
              </a:rPr>
              <a:t>Middleware Chain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78240" y="5989320"/>
            <a:ext cx="1417320" cy="29260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D1B2A"/>
                </a:solidFill>
                <a:latin typeface="Calibri"/>
              </a:rPr>
              <a:t>Context API (React)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87000" y="5989320"/>
            <a:ext cx="1417320" cy="29260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D1B2A"/>
                </a:solidFill>
                <a:latin typeface="Calibri"/>
              </a:rPr>
              <a:t>Guard Clauses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Phase 3 · Docker &amp; Version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04672"/>
            <a:ext cx="2011680" cy="256032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PHASE 3 — DOCKER &amp; 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🐳  Docker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1B2A"/>
                </a:solidFill>
                <a:latin typeface="Calibri"/>
              </a:rPr>
              <a:t>Services: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  mentorship_db  — PostgreSQL 15-alpine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  mentorship_api — Node.js 20-alpine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D1B2A"/>
                </a:solidFill>
                <a:latin typeface="Calibri"/>
              </a:rPr>
              <a:t>Key Commands: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65A82"/>
                </a:solidFill>
                <a:latin typeface="Calibri"/>
              </a:rPr>
              <a:t>  docker-compose up --build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65A82"/>
                </a:solidFill>
                <a:latin typeface="Calibri"/>
              </a:rPr>
              <a:t>  docker ps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65A82"/>
                </a:solidFill>
                <a:latin typeface="Calibri"/>
              </a:rPr>
              <a:t>  docker-compose down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D1B2A"/>
                </a:solidFill>
                <a:latin typeface="Calibri"/>
              </a:rPr>
              <a:t>Health Check: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8C5E"/>
                </a:solidFill>
                <a:latin typeface="Calibri"/>
              </a:rPr>
              <a:t>  GET http://localhost:5000/health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  → { status: ok, project: AUCA Mentorship Portal }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D1B2A"/>
                </a:solidFill>
                <a:latin typeface="Calibri"/>
              </a:rPr>
              <a:t>Volume: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  pgdata — persistent PostgreSQL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234440"/>
            <a:ext cx="557784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57784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618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🔀  Git Branching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4864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556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2996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Production-ready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395728"/>
            <a:ext cx="54864" cy="4114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3225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feature/auth-system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968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JWT auth &amp; bcrypt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962656"/>
            <a:ext cx="54864" cy="4114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8895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feature/mentors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1638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Mentor profiles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529584"/>
            <a:ext cx="54864" cy="4114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456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feature/session-management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730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Booking 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096512"/>
            <a:ext cx="54864" cy="4114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feature/feedback-system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297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Ratings &amp; reviews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663440"/>
            <a:ext cx="54864" cy="4114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5902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feature/frontend-ui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86460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React pages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5230368"/>
            <a:ext cx="54864" cy="4114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51572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feature/docker-setup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4315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Containerization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797296"/>
            <a:ext cx="54864" cy="411480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57241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feature/tests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59984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Jest test suites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Phase 4 · Software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04672"/>
            <a:ext cx="1645920" cy="256032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PHASE 4 —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743200" cy="54864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D8C5E"/>
                </a:solidFill>
                <a:latin typeface="Georgia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Unit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370"/>
                </a:solidFill>
                <a:latin typeface="Calibri"/>
              </a:rPr>
              <a:t>100%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3444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743200" cy="54864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258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D8C5E"/>
                </a:solidFill>
                <a:latin typeface="Georg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Integration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12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370"/>
                </a:solidFill>
                <a:latin typeface="Calibri"/>
              </a:rPr>
              <a:t>100%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2743200" cy="54864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258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D8C5E"/>
                </a:solidFill>
                <a:latin typeface="Georgia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Total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12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370"/>
                </a:solidFill>
                <a:latin typeface="Calibri"/>
              </a:rPr>
              <a:t>All Passing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3444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23444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3258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Test Suites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12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370"/>
                </a:solidFill>
                <a:latin typeface="Calibri"/>
              </a:rPr>
              <a:t>auth · session · feedback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88920"/>
            <a:ext cx="55778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788920"/>
            <a:ext cx="557784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8163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Unit Tests  (npx jest tests/unit/ --verbose)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246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auth.test.js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5661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generateToken returns a string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7947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bcrypt hash verifies correctly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0233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bcrypt rejects wrong password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session.test.js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6634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pending can be accepted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892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pending can be declined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1206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accepted can be completed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3492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completed cannot be changed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4406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feedback.test.js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76071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valid feedback passes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98931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missing session_id fails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21791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rating out of range fails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4651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missing rating fails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788920"/>
            <a:ext cx="55778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2788920"/>
            <a:ext cx="5577840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8163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Integration Tests  (Supertest + Express)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246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auth.test.js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5661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should register a new mentee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8404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should reject duplicate email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1148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should reject wrong password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session.test.js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2578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authenticated mentee gets sessions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5321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✓  unauthenticated request rejected (401)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5349240"/>
            <a:ext cx="5577840" cy="1097280"/>
          </a:xfrm>
          <a:prstGeom prst="rect">
            <a:avLst/>
          </a:prstGeom>
          <a:solidFill>
            <a:srgbClr val="F0F8F0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5440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8C5E"/>
                </a:solidFill>
                <a:latin typeface="Consolas"/>
              </a:rPr>
              <a:t>$ npx jest tests/unit/ --verbose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715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8C5E"/>
                </a:solidFill>
                <a:latin typeface="Consolas"/>
              </a:rPr>
              <a:t>$ npx jest tests/integration/ --verbose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989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8C5E"/>
                </a:solidFill>
                <a:latin typeface="Consolas"/>
              </a:rPr>
              <a:t>$ npx jest --coverage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Phase 4 · API Testing — Postman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1143000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1887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1887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1188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86868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550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6642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/api/auth/register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64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6370"/>
                </a:solidFill>
                <a:latin typeface="Calibri"/>
              </a:rPr>
              <a:t>Public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66420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Register mentee or mentor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75104"/>
            <a:ext cx="1143000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39112"/>
            <a:ext cx="86868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6654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/api/auth/login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0665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6370"/>
                </a:solidFill>
                <a:latin typeface="Calibri"/>
              </a:rPr>
              <a:t>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06654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Login — returns JWT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77440"/>
            <a:ext cx="11430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441448"/>
            <a:ext cx="868680" cy="256032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459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468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/api/auth/me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6370"/>
                </a:solidFill>
                <a:latin typeface="Calibri"/>
              </a:rPr>
              <a:t>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4688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Get current authenticated user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79776"/>
            <a:ext cx="1143000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843784"/>
            <a:ext cx="868680" cy="256032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8620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87121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/api/users/mentors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8712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6370"/>
                </a:solidFill>
                <a:latin typeface="Calibri"/>
              </a:rPr>
              <a:t>Any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8712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List all approved mentors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182112"/>
            <a:ext cx="11430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246120"/>
            <a:ext cx="868680" cy="256032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2644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2735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/api/users/pending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2735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273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Pending mentor applications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584448"/>
            <a:ext cx="1143000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648456"/>
            <a:ext cx="868680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6667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367588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/api/users/:id/approve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36758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Admin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675887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Approve or reject a mentor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986784"/>
            <a:ext cx="11430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4050792"/>
            <a:ext cx="86868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0690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40782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/api/sessions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40782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Mentee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40782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Book a new session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389120"/>
            <a:ext cx="1143000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4453128"/>
            <a:ext cx="868680" cy="256032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471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448055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/api/sessions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0" y="448055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6370"/>
                </a:solidFill>
                <a:latin typeface="Calibri"/>
              </a:rPr>
              <a:t>Any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448055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Get sessions for logged-in user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791456"/>
            <a:ext cx="11430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855464"/>
            <a:ext cx="868680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87375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63040" y="488289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/api/sessions/:id/status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0" y="48828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Mentor/Admin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48828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Update session status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193792"/>
            <a:ext cx="1143000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5257800"/>
            <a:ext cx="86868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27608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63040" y="5285231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/api/feedback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52852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Mentee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78040" y="5285231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Submit feedback after session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596128"/>
            <a:ext cx="11430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7200" y="5660136"/>
            <a:ext cx="868680" cy="256032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67842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63040" y="56875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/api/feedback/mentor/:id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7840" y="5687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6370"/>
                </a:solidFill>
                <a:latin typeface="Calibri"/>
              </a:rPr>
              <a:t>Any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78040" y="56875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Get feedback for a mentor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5998464"/>
            <a:ext cx="1143000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6062472"/>
            <a:ext cx="868680" cy="256032"/>
          </a:xfrm>
          <a:prstGeom prst="rect">
            <a:avLst/>
          </a:prstGeom>
          <a:solidFill>
            <a:srgbClr val="2D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080759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63040" y="608990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onsolas"/>
              </a:rPr>
              <a:t>/api/feedback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77840" y="6089903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Admin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78040" y="6089903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Calibri"/>
              </a:rPr>
              <a:t>Get all feedback (admin)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84C"/>
                </a:solidFill>
                <a:latin typeface="Calibri"/>
              </a:rPr>
              <a:t>AUCA Student Mentorship Portal — Complete Full-Stack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4864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830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305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System analysis, UML diagrams (Use Case, Class, Activity, Sequence, Component)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54864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743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90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Full-stack prototype — React frontend, Express API, PostgreSQL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54864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703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050791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Dockerized with docker-compose, Git version control with feature branches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663440"/>
            <a:ext cx="54864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663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0109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17 tests (100% pass rate) — unit, integration, Postman API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32120"/>
            <a:ext cx="2606040" cy="1078992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532120"/>
            <a:ext cx="26060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9612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447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Tests Passing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5532120"/>
            <a:ext cx="2606040" cy="1078992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5532120"/>
            <a:ext cx="26060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559612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61447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Git Branches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532120"/>
            <a:ext cx="2606040" cy="1078992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5532120"/>
            <a:ext cx="26060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59612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61447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API Endpoints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5532120"/>
            <a:ext cx="2606040" cy="1078992"/>
          </a:xfrm>
          <a:prstGeom prst="rect">
            <a:avLst/>
          </a:prstGeom>
          <a:solidFill>
            <a:srgbClr val="1A2F4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5532120"/>
            <a:ext cx="26060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559612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1447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Design Patterns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601968"/>
            <a:ext cx="105156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6568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84C"/>
                </a:solidFill>
                <a:latin typeface="Calibri"/>
              </a:rPr>
              <a:t>"Whatever you do, work at it with all your heart, as working for the Lord." — Colossians 3:23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